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we industrialized our engineering knowledge. 45 services' worth of APIs, flows, and decisions now live in one continuously verified knowledge base that both developers and AI agents consume. The rest of the deck: the problem, why we built it this exact way (markdown + RAG + MCP), the proof it works, and how it scales.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rot is silent — docs don't look wrong, they just quietly stop being right. Humans cross-check; LLMs amplify whatever they're fed. That's what turned a chronic annoyance into a priority: our AI-assisted delivery pipeline is only as good as the knowledge feeding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insight: nothing here is novel process — it's the software playbook applied to knowledge. Process that depends on human diligence loses to process that runs in CI, every time. This is also why the whole system is auditable and boring in the best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one declared input, AI scans real code into structured data, a deterministic generator renders the readable bundle, and everything downstream consumes it. The three guarantees at the bottom are what make it trustworthy: staleness is mechanically detectable, CI is free, and trust is explicit on every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Anticipated question: 'Why not just Confluence + search?' Answer: agents burn tokens on wiki markup and can't get deterministic answers; nothing verifies Confluence against code. Markdown gives ~10x token efficiency, git governance, and a deterministic graph — and Confluence remains a source we ingest. 'Why not a database?' The markdown bundle IS the product; every index is a derived, disposable cache — zero lock-in.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messages: (1) deterministic-first — exact questions never touch a search engine, which is straight from Google's OKF playbook; (2) where we do search, quality is a number gated in CI, not a demo impression. And we didn't buy a vector database: at 1,300 chunks an in-process index passes every gate; the vector DB is designed and adopts automatically at ~50K chunks. Nobody has to re-litigate that — the trigger is written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our own API?' — because MCP is the industry's standard socket: we publish one server and every AI tool in the company can call it, today and tomorrow. Betting on MCP is betting with the industry, not on a vendor. The 25-to-9 consolidation matters for quality: agents pick the right tool more often and carry less schema clutter.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trust mechanisms. Freshness: we deliberately rejected wiring hooks into 45 other teams' CI — the nightly scan needs zero cooperation and meets the SLO with 7x headroom; the event-driven design exists on paper with a written trigger. Trust: the precedence rule means AI can enrich but never override human design; every AI-only fact is visibly tagged for the reviewer.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someone asks 'how do you KNOW it's good?' — this slide. Five exams, each answering a different question, each gated or scheduled. Circularity is broken deliberately: answer keys are ground truth by construction, retrieval scoring is pure arithmetic, and humans calibrate the judge. The expensive part was never compute — it was deciding to measure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due-diligence slide: every load-bearing choice maps to a named, citable, current standard. If the org later buys an enterprise knowledge product, the content survives — it's markdown + metadata in git, portable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one big KB? Ownership. The Customer team cannot own knowledge living in Commerce's repo — and a central docs team becomes a bottleneck. Federation is the Backstage/data-mesh model: a shared versioned framework package, one repo per domain, and a one-page registry. Also prevents context pollution: an agent working Commerce never wades through ten domains of search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 was actively simplified: 25 tools became 9, three quality checkers became one, four version schemes became two, 1,291 derived files left git. What remains is the measured pack. The quote is the governing rule — it converts 'should we build X yet?' from a meeting into a dashboard glance.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 endorsement of the federation model and a second domain to onboard. Emphasize: everything demoed today runs with zero standing infrastructure and $0 LLM in CI; the costly parts (ingest, evaluation) are measured in single-digit dollars. The 11-chapter book covers every detail for the teams who will operate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sp>
      <p:sp>
        <p:nvSpPr>
          <p:cNvPr id="3" name="Shape 1"/>
          <p:cNvSpPr/>
          <p:nvPr/>
        </p:nvSpPr>
        <p:spPr>
          <a:xfrm>
            <a:off x="9509760" y="-1463040"/>
            <a:ext cx="4206240" cy="4206240"/>
          </a:xfrm>
          <a:prstGeom prst="ellipse">
            <a:avLst/>
          </a:prstGeom>
          <a:solidFill>
            <a:srgbClr val="2A3575"/>
          </a:solidFill>
          <a:ln/>
        </p:spPr>
      </p:sp>
      <p:sp>
        <p:nvSpPr>
          <p:cNvPr id="4" name="Shape 2"/>
          <p:cNvSpPr/>
          <p:nvPr/>
        </p:nvSpPr>
        <p:spPr>
          <a:xfrm>
            <a:off x="-1645920" y="4754880"/>
            <a:ext cx="3840480" cy="3840480"/>
          </a:xfrm>
          <a:prstGeom prst="ellipse">
            <a:avLst/>
          </a:prstGeom>
          <a:solidFill>
            <a:srgbClr val="2A3575"/>
          </a:solidFill>
          <a:ln/>
        </p:spPr>
      </p:sp>
      <p:sp>
        <p:nvSpPr>
          <p:cNvPr id="5" name="Shape 3"/>
          <p:cNvSpPr/>
          <p:nvPr/>
        </p:nvSpPr>
        <p:spPr>
          <a:xfrm>
            <a:off x="10607040" y="5394960"/>
            <a:ext cx="1005840" cy="1005840"/>
          </a:xfrm>
          <a:prstGeom prst="ellipse">
            <a:avLst/>
          </a:prstGeom>
          <a:solidFill>
            <a:srgbClr val="F0A500"/>
          </a:solidFill>
          <a:ln/>
        </p:spPr>
      </p:sp>
      <p:sp>
        <p:nvSpPr>
          <p:cNvPr id="6" name="Text 4"/>
          <p:cNvSpPr/>
          <p:nvPr/>
        </p:nvSpPr>
        <p:spPr>
          <a:xfrm>
            <a:off x="822960" y="1554480"/>
            <a:ext cx="10515600" cy="365760"/>
          </a:xfrm>
          <a:prstGeom prst="rect">
            <a:avLst/>
          </a:prstGeom>
          <a:noFill/>
          <a:ln/>
        </p:spPr>
        <p:txBody>
          <a:bodyPr wrap="square" lIns="0" tIns="0" rIns="0" bIns="0" rtlCol="0" anchor="ctr"/>
          <a:lstStyle/>
          <a:p>
            <a:pPr indent="0" marL="0">
              <a:buNone/>
            </a:pPr>
            <a:r>
              <a:rPr lang="en-US" sz="1300" b="1" spc="300" kern="0" dirty="0">
                <a:solidFill>
                  <a:srgbClr val="CADCFC"/>
                </a:solidFill>
                <a:latin typeface="Calibri" pitchFamily="34" charset="0"/>
                <a:ea typeface="Calibri" pitchFamily="34" charset="-122"/>
                <a:cs typeface="Calibri" pitchFamily="34" charset="-120"/>
              </a:rPr>
              <a:t>ARCHITECTURE BRIEFING FOR LEADERSHIP</a:t>
            </a:r>
            <a:endParaRPr lang="en-US" sz="1300" dirty="0"/>
          </a:p>
        </p:txBody>
      </p:sp>
      <p:sp>
        <p:nvSpPr>
          <p:cNvPr id="7" name="Text 5"/>
          <p:cNvSpPr/>
          <p:nvPr/>
        </p:nvSpPr>
        <p:spPr>
          <a:xfrm>
            <a:off x="822960" y="1965960"/>
            <a:ext cx="10515600" cy="1005840"/>
          </a:xfrm>
          <a:prstGeom prst="rect">
            <a:avLst/>
          </a:prstGeom>
          <a:noFill/>
          <a:ln/>
        </p:spPr>
        <p:txBody>
          <a:bodyPr wrap="square" lIns="0" tIns="0" rIns="0" bIns="0" rtlCol="0" anchor="ctr"/>
          <a:lstStyle/>
          <a:p>
            <a:pPr indent="0" marL="0">
              <a:buNone/>
            </a:pPr>
            <a:r>
              <a:rPr lang="en-US" sz="4700" b="1" dirty="0">
                <a:solidFill>
                  <a:srgbClr val="FFFFFF"/>
                </a:solidFill>
                <a:latin typeface="Cambria" pitchFamily="34" charset="0"/>
                <a:ea typeface="Cambria" pitchFamily="34" charset="-122"/>
                <a:cs typeface="Cambria" pitchFamily="34" charset="-120"/>
              </a:rPr>
              <a:t>The Commerce Knowledge Base</a:t>
            </a:r>
            <a:endParaRPr lang="en-US" sz="4700" dirty="0"/>
          </a:p>
        </p:txBody>
      </p:sp>
      <p:sp>
        <p:nvSpPr>
          <p:cNvPr id="8" name="Text 6"/>
          <p:cNvSpPr/>
          <p:nvPr/>
        </p:nvSpPr>
        <p:spPr>
          <a:xfrm>
            <a:off x="822960" y="3063240"/>
            <a:ext cx="9601200" cy="86868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One trustworthy source of truth for humans and AI agents —</a:t>
            </a:r>
            <a:endParaRPr lang="en-US" sz="1700" dirty="0"/>
          </a:p>
          <a:p>
            <a:pPr indent="0" marL="0">
              <a:buNone/>
            </a:pPr>
            <a:r>
              <a:rPr lang="en-US" sz="1700" dirty="0">
                <a:solidFill>
                  <a:srgbClr val="CADCFC"/>
                </a:solidFill>
                <a:latin typeface="Calibri" pitchFamily="34" charset="0"/>
                <a:ea typeface="Calibri" pitchFamily="34" charset="-122"/>
                <a:cs typeface="Calibri" pitchFamily="34" charset="-120"/>
              </a:rPr>
              <a:t>built like software: versioned, tested, and continuously verified.</a:t>
            </a:r>
            <a:endParaRPr lang="en-US" sz="1700" dirty="0"/>
          </a:p>
        </p:txBody>
      </p:sp>
      <p:sp>
        <p:nvSpPr>
          <p:cNvPr id="9" name="Shape 7"/>
          <p:cNvSpPr/>
          <p:nvPr/>
        </p:nvSpPr>
        <p:spPr>
          <a:xfrm>
            <a:off x="822960" y="4343400"/>
            <a:ext cx="2377440" cy="1417320"/>
          </a:xfrm>
          <a:prstGeom prst="roundRect">
            <a:avLst>
              <a:gd name="adj" fmla="val 5161"/>
            </a:avLst>
          </a:prstGeom>
          <a:solidFill>
            <a:srgbClr val="2A3575"/>
          </a:solidFill>
          <a:ln w="12700">
            <a:solidFill>
              <a:srgbClr val="2A3575"/>
            </a:solidFill>
            <a:prstDash val="solid"/>
          </a:ln>
        </p:spPr>
      </p:sp>
      <p:sp>
        <p:nvSpPr>
          <p:cNvPr id="10" name="Text 8"/>
          <p:cNvSpPr/>
          <p:nvPr/>
        </p:nvSpPr>
        <p:spPr>
          <a:xfrm>
            <a:off x="960120" y="4480560"/>
            <a:ext cx="2103120" cy="548640"/>
          </a:xfrm>
          <a:prstGeom prst="rect">
            <a:avLst/>
          </a:prstGeom>
          <a:noFill/>
          <a:ln/>
        </p:spPr>
        <p:txBody>
          <a:bodyPr wrap="square" lIns="0" tIns="0" rIns="0" bIns="0" rtlCol="0" anchor="ctr"/>
          <a:lstStyle/>
          <a:p>
            <a:pPr indent="0" marL="0">
              <a:buNone/>
            </a:pPr>
            <a:r>
              <a:rPr lang="en-US" sz="3000" b="1" dirty="0">
                <a:solidFill>
                  <a:srgbClr val="F0A500"/>
                </a:solidFill>
                <a:latin typeface="Cambria" pitchFamily="34" charset="0"/>
                <a:ea typeface="Cambria" pitchFamily="34" charset="-122"/>
                <a:cs typeface="Cambria" pitchFamily="34" charset="-120"/>
              </a:rPr>
              <a:t>45</a:t>
            </a:r>
            <a:endParaRPr lang="en-US" sz="3000" dirty="0"/>
          </a:p>
        </p:txBody>
      </p:sp>
      <p:sp>
        <p:nvSpPr>
          <p:cNvPr id="11" name="Text 9"/>
          <p:cNvSpPr/>
          <p:nvPr/>
        </p:nvSpPr>
        <p:spPr>
          <a:xfrm>
            <a:off x="960120" y="5029200"/>
            <a:ext cx="2148840" cy="64008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microservices,</a:t>
            </a:r>
            <a:endParaRPr lang="en-US" sz="1100" dirty="0"/>
          </a:p>
          <a:p>
            <a:pPr indent="0" marL="0">
              <a:buNone/>
            </a:pPr>
            <a:r>
              <a:rPr lang="en-US" sz="1100" dirty="0">
                <a:solidFill>
                  <a:srgbClr val="CADCFC"/>
                </a:solidFill>
                <a:latin typeface="Calibri" pitchFamily="34" charset="0"/>
                <a:ea typeface="Calibri" pitchFamily="34" charset="-122"/>
                <a:cs typeface="Calibri" pitchFamily="34" charset="-120"/>
              </a:rPr>
              <a:t>11 subdomains</a:t>
            </a:r>
            <a:endParaRPr lang="en-US" sz="1100" dirty="0"/>
          </a:p>
        </p:txBody>
      </p:sp>
      <p:sp>
        <p:nvSpPr>
          <p:cNvPr id="12" name="Shape 10"/>
          <p:cNvSpPr/>
          <p:nvPr/>
        </p:nvSpPr>
        <p:spPr>
          <a:xfrm>
            <a:off x="3520440" y="4343400"/>
            <a:ext cx="2377440" cy="1417320"/>
          </a:xfrm>
          <a:prstGeom prst="roundRect">
            <a:avLst>
              <a:gd name="adj" fmla="val 5161"/>
            </a:avLst>
          </a:prstGeom>
          <a:solidFill>
            <a:srgbClr val="2A3575"/>
          </a:solidFill>
          <a:ln w="12700">
            <a:solidFill>
              <a:srgbClr val="2A3575"/>
            </a:solidFill>
            <a:prstDash val="solid"/>
          </a:ln>
        </p:spPr>
      </p:sp>
      <p:sp>
        <p:nvSpPr>
          <p:cNvPr id="13" name="Text 11"/>
          <p:cNvSpPr/>
          <p:nvPr/>
        </p:nvSpPr>
        <p:spPr>
          <a:xfrm>
            <a:off x="3657600" y="4480560"/>
            <a:ext cx="2103120" cy="548640"/>
          </a:xfrm>
          <a:prstGeom prst="rect">
            <a:avLst/>
          </a:prstGeom>
          <a:noFill/>
          <a:ln/>
        </p:spPr>
        <p:txBody>
          <a:bodyPr wrap="square" lIns="0" tIns="0" rIns="0" bIns="0" rtlCol="0" anchor="ctr"/>
          <a:lstStyle/>
          <a:p>
            <a:pPr indent="0" marL="0">
              <a:buNone/>
            </a:pPr>
            <a:r>
              <a:rPr lang="en-US" sz="3000" b="1" dirty="0">
                <a:solidFill>
                  <a:srgbClr val="F0A500"/>
                </a:solidFill>
                <a:latin typeface="Cambria" pitchFamily="34" charset="0"/>
                <a:ea typeface="Cambria" pitchFamily="34" charset="-122"/>
                <a:cs typeface="Cambria" pitchFamily="34" charset="-120"/>
              </a:rPr>
              <a:t>830</a:t>
            </a:r>
            <a:endParaRPr lang="en-US" sz="3000" dirty="0"/>
          </a:p>
        </p:txBody>
      </p:sp>
      <p:sp>
        <p:nvSpPr>
          <p:cNvPr id="14" name="Text 12"/>
          <p:cNvSpPr/>
          <p:nvPr/>
        </p:nvSpPr>
        <p:spPr>
          <a:xfrm>
            <a:off x="3657600" y="5029200"/>
            <a:ext cx="2148840" cy="64008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API endpoints</a:t>
            </a:r>
            <a:endParaRPr lang="en-US" sz="1100" dirty="0"/>
          </a:p>
          <a:p>
            <a:pPr indent="0" marL="0">
              <a:buNone/>
            </a:pPr>
            <a:r>
              <a:rPr lang="en-US" sz="1100" dirty="0">
                <a:solidFill>
                  <a:srgbClr val="CADCFC"/>
                </a:solidFill>
                <a:latin typeface="Calibri" pitchFamily="34" charset="0"/>
                <a:ea typeface="Calibri" pitchFamily="34" charset="-122"/>
                <a:cs typeface="Calibri" pitchFamily="34" charset="-120"/>
              </a:rPr>
              <a:t>documented</a:t>
            </a:r>
            <a:endParaRPr lang="en-US" sz="1100" dirty="0"/>
          </a:p>
        </p:txBody>
      </p:sp>
      <p:sp>
        <p:nvSpPr>
          <p:cNvPr id="15" name="Shape 13"/>
          <p:cNvSpPr/>
          <p:nvPr/>
        </p:nvSpPr>
        <p:spPr>
          <a:xfrm>
            <a:off x="6217920" y="4343400"/>
            <a:ext cx="2377440" cy="1417320"/>
          </a:xfrm>
          <a:prstGeom prst="roundRect">
            <a:avLst>
              <a:gd name="adj" fmla="val 5161"/>
            </a:avLst>
          </a:prstGeom>
          <a:solidFill>
            <a:srgbClr val="2A3575"/>
          </a:solidFill>
          <a:ln w="12700">
            <a:solidFill>
              <a:srgbClr val="2A3575"/>
            </a:solidFill>
            <a:prstDash val="solid"/>
          </a:ln>
        </p:spPr>
      </p:sp>
      <p:sp>
        <p:nvSpPr>
          <p:cNvPr id="16" name="Text 14"/>
          <p:cNvSpPr/>
          <p:nvPr/>
        </p:nvSpPr>
        <p:spPr>
          <a:xfrm>
            <a:off x="6355080" y="4480560"/>
            <a:ext cx="2103120" cy="548640"/>
          </a:xfrm>
          <a:prstGeom prst="rect">
            <a:avLst/>
          </a:prstGeom>
          <a:noFill/>
          <a:ln/>
        </p:spPr>
        <p:txBody>
          <a:bodyPr wrap="square" lIns="0" tIns="0" rIns="0" bIns="0" rtlCol="0" anchor="ctr"/>
          <a:lstStyle/>
          <a:p>
            <a:pPr indent="0" marL="0">
              <a:buNone/>
            </a:pPr>
            <a:r>
              <a:rPr lang="en-US" sz="3000" b="1" dirty="0">
                <a:solidFill>
                  <a:srgbClr val="F0A500"/>
                </a:solidFill>
                <a:latin typeface="Cambria" pitchFamily="34" charset="0"/>
                <a:ea typeface="Cambria" pitchFamily="34" charset="-122"/>
                <a:cs typeface="Cambria" pitchFamily="34" charset="-120"/>
              </a:rPr>
              <a:t>1,291</a:t>
            </a:r>
            <a:endParaRPr lang="en-US" sz="3000" dirty="0"/>
          </a:p>
        </p:txBody>
      </p:sp>
      <p:sp>
        <p:nvSpPr>
          <p:cNvPr id="17" name="Text 15"/>
          <p:cNvSpPr/>
          <p:nvPr/>
        </p:nvSpPr>
        <p:spPr>
          <a:xfrm>
            <a:off x="6355080" y="5029200"/>
            <a:ext cx="2148840" cy="64008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retrieval chunks,</a:t>
            </a:r>
            <a:endParaRPr lang="en-US" sz="1100" dirty="0"/>
          </a:p>
          <a:p>
            <a:pPr indent="0" marL="0">
              <a:buNone/>
            </a:pPr>
            <a:r>
              <a:rPr lang="en-US" sz="1100" dirty="0">
                <a:solidFill>
                  <a:srgbClr val="CADCFC"/>
                </a:solidFill>
                <a:latin typeface="Calibri" pitchFamily="34" charset="0"/>
                <a:ea typeface="Calibri" pitchFamily="34" charset="-122"/>
                <a:cs typeface="Calibri" pitchFamily="34" charset="-120"/>
              </a:rPr>
              <a:t>each addressable</a:t>
            </a:r>
            <a:endParaRPr lang="en-US" sz="1100" dirty="0"/>
          </a:p>
        </p:txBody>
      </p:sp>
      <p:sp>
        <p:nvSpPr>
          <p:cNvPr id="18" name="Shape 16"/>
          <p:cNvSpPr/>
          <p:nvPr/>
        </p:nvSpPr>
        <p:spPr>
          <a:xfrm>
            <a:off x="8915400" y="4343400"/>
            <a:ext cx="2377440" cy="1417320"/>
          </a:xfrm>
          <a:prstGeom prst="roundRect">
            <a:avLst>
              <a:gd name="adj" fmla="val 5161"/>
            </a:avLst>
          </a:prstGeom>
          <a:solidFill>
            <a:srgbClr val="2A3575"/>
          </a:solidFill>
          <a:ln w="12700">
            <a:solidFill>
              <a:srgbClr val="2A3575"/>
            </a:solidFill>
            <a:prstDash val="solid"/>
          </a:ln>
        </p:spPr>
      </p:sp>
      <p:sp>
        <p:nvSpPr>
          <p:cNvPr id="19" name="Text 17"/>
          <p:cNvSpPr/>
          <p:nvPr/>
        </p:nvSpPr>
        <p:spPr>
          <a:xfrm>
            <a:off x="9052560" y="4480560"/>
            <a:ext cx="2103120" cy="548640"/>
          </a:xfrm>
          <a:prstGeom prst="rect">
            <a:avLst/>
          </a:prstGeom>
          <a:noFill/>
          <a:ln/>
        </p:spPr>
        <p:txBody>
          <a:bodyPr wrap="square" lIns="0" tIns="0" rIns="0" bIns="0" rtlCol="0" anchor="ctr"/>
          <a:lstStyle/>
          <a:p>
            <a:pPr indent="0" marL="0">
              <a:buNone/>
            </a:pPr>
            <a:r>
              <a:rPr lang="en-US" sz="3000" b="1" dirty="0">
                <a:solidFill>
                  <a:srgbClr val="F0A500"/>
                </a:solidFill>
                <a:latin typeface="Cambria" pitchFamily="34" charset="0"/>
                <a:ea typeface="Cambria" pitchFamily="34" charset="-122"/>
                <a:cs typeface="Cambria" pitchFamily="34" charset="-120"/>
              </a:rPr>
              <a:t>$0</a:t>
            </a:r>
            <a:endParaRPr lang="en-US" sz="3000" dirty="0"/>
          </a:p>
        </p:txBody>
      </p:sp>
      <p:sp>
        <p:nvSpPr>
          <p:cNvPr id="20" name="Text 18"/>
          <p:cNvSpPr/>
          <p:nvPr/>
        </p:nvSpPr>
        <p:spPr>
          <a:xfrm>
            <a:off x="9052560" y="5029200"/>
            <a:ext cx="2148840" cy="64008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LLM cost in CI —</a:t>
            </a:r>
            <a:endParaRPr lang="en-US" sz="1100" dirty="0"/>
          </a:p>
          <a:p>
            <a:pPr indent="0" marL="0">
              <a:buNone/>
            </a:pPr>
            <a:r>
              <a:rPr lang="en-US" sz="1100" dirty="0">
                <a:solidFill>
                  <a:srgbClr val="CADCFC"/>
                </a:solidFill>
                <a:latin typeface="Calibri" pitchFamily="34" charset="0"/>
                <a:ea typeface="Calibri" pitchFamily="34" charset="-122"/>
                <a:cs typeface="Calibri" pitchFamily="34" charset="-120"/>
              </a:rPr>
              <a:t>fully deterministic</a:t>
            </a:r>
            <a:endParaRPr lang="en-US" sz="1100" dirty="0"/>
          </a:p>
        </p:txBody>
      </p:sp>
      <p:sp>
        <p:nvSpPr>
          <p:cNvPr id="21" name="Text 19"/>
          <p:cNvSpPr/>
          <p:nvPr/>
        </p:nvSpPr>
        <p:spPr>
          <a:xfrm>
            <a:off x="822960" y="6263640"/>
            <a:ext cx="1051560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Commerce Architecture Team  ·  apm0045079  ·  kb-framework 2.0.0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200" kern="0" dirty="0">
                <a:solidFill>
                  <a:srgbClr val="8A5F00"/>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Our knowledge was rotting — and AI made that dangerous</a:t>
            </a:r>
            <a:endParaRPr lang="en-US" sz="3000" dirty="0"/>
          </a:p>
        </p:txBody>
      </p:sp>
      <p:sp>
        <p:nvSpPr>
          <p:cNvPr id="4" name="Shape 2"/>
          <p:cNvSpPr/>
          <p:nvPr/>
        </p:nvSpPr>
        <p:spPr>
          <a:xfrm>
            <a:off x="502920" y="1481328"/>
            <a:ext cx="5440680" cy="1298448"/>
          </a:xfrm>
          <a:prstGeom prst="roundRect">
            <a:avLst>
              <a:gd name="adj" fmla="val 5634"/>
            </a:avLst>
          </a:prstGeom>
          <a:solidFill>
            <a:srgbClr val="EEF4FB"/>
          </a:solidFill>
          <a:ln w="12700">
            <a:solidFill>
              <a:srgbClr val="EEF4FB"/>
            </a:solidFill>
            <a:prstDash val="solid"/>
          </a:ln>
        </p:spPr>
      </p:sp>
      <p:sp>
        <p:nvSpPr>
          <p:cNvPr id="5" name="Text 3"/>
          <p:cNvSpPr/>
          <p:nvPr/>
        </p:nvSpPr>
        <p:spPr>
          <a:xfrm>
            <a:off x="731520" y="1609344"/>
            <a:ext cx="5029200"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Confluence pages</a:t>
            </a:r>
            <a:endParaRPr lang="en-US" sz="1500" dirty="0"/>
          </a:p>
        </p:txBody>
      </p:sp>
      <p:sp>
        <p:nvSpPr>
          <p:cNvPr id="6" name="Text 4"/>
          <p:cNvSpPr/>
          <p:nvPr/>
        </p:nvSpPr>
        <p:spPr>
          <a:xfrm>
            <a:off x="731520" y="1956816"/>
            <a:ext cx="5029200" cy="731520"/>
          </a:xfrm>
          <a:prstGeom prst="rect">
            <a:avLst/>
          </a:prstGeom>
          <a:noFill/>
          <a:ln/>
        </p:spPr>
        <p:txBody>
          <a:bodyPr wrap="square" lIns="0" tIns="0" rIns="0" bIns="0" rtlCol="0" anchor="ctr"/>
          <a:lstStyle/>
          <a:p>
            <a:pPr indent="0" marL="0">
              <a:buNone/>
            </a:pPr>
            <a:r>
              <a:rPr lang="en-US" sz="1250" dirty="0">
                <a:solidFill>
                  <a:srgbClr val="232838"/>
                </a:solidFill>
                <a:latin typeface="Calibri" pitchFamily="34" charset="0"/>
                <a:ea typeface="Calibri" pitchFamily="34" charset="-122"/>
                <a:cs typeface="Calibri" pitchFamily="34" charset="-120"/>
              </a:rPr>
              <a:t>Written once, never re-verified. The wiki said port 8081; production moved to 8443 long ago.</a:t>
            </a:r>
            <a:endParaRPr lang="en-US" sz="1250" dirty="0"/>
          </a:p>
        </p:txBody>
      </p:sp>
      <p:sp>
        <p:nvSpPr>
          <p:cNvPr id="7" name="Shape 5"/>
          <p:cNvSpPr/>
          <p:nvPr/>
        </p:nvSpPr>
        <p:spPr>
          <a:xfrm>
            <a:off x="6172200" y="1481328"/>
            <a:ext cx="5440680" cy="1298448"/>
          </a:xfrm>
          <a:prstGeom prst="roundRect">
            <a:avLst>
              <a:gd name="adj" fmla="val 5634"/>
            </a:avLst>
          </a:prstGeom>
          <a:solidFill>
            <a:srgbClr val="EEF4FB"/>
          </a:solidFill>
          <a:ln w="12700">
            <a:solidFill>
              <a:srgbClr val="EEF4FB"/>
            </a:solidFill>
            <a:prstDash val="solid"/>
          </a:ln>
        </p:spPr>
      </p:sp>
      <p:sp>
        <p:nvSpPr>
          <p:cNvPr id="8" name="Text 6"/>
          <p:cNvSpPr/>
          <p:nvPr/>
        </p:nvSpPr>
        <p:spPr>
          <a:xfrm>
            <a:off x="6400800" y="1609344"/>
            <a:ext cx="5029200"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45 repositories</a:t>
            </a:r>
            <a:endParaRPr lang="en-US" sz="1500" dirty="0"/>
          </a:p>
        </p:txBody>
      </p:sp>
      <p:sp>
        <p:nvSpPr>
          <p:cNvPr id="9" name="Text 7"/>
          <p:cNvSpPr/>
          <p:nvPr/>
        </p:nvSpPr>
        <p:spPr>
          <a:xfrm>
            <a:off x="6400800" y="1956816"/>
            <a:ext cx="5029200" cy="731520"/>
          </a:xfrm>
          <a:prstGeom prst="rect">
            <a:avLst/>
          </a:prstGeom>
          <a:noFill/>
          <a:ln/>
        </p:spPr>
        <p:txBody>
          <a:bodyPr wrap="square" lIns="0" tIns="0" rIns="0" bIns="0" rtlCol="0" anchor="ctr"/>
          <a:lstStyle/>
          <a:p>
            <a:pPr indent="0" marL="0">
              <a:buNone/>
            </a:pPr>
            <a:r>
              <a:rPr lang="en-US" sz="1250" dirty="0">
                <a:solidFill>
                  <a:srgbClr val="232838"/>
                </a:solidFill>
                <a:latin typeface="Calibri" pitchFamily="34" charset="0"/>
                <a:ea typeface="Calibri" pitchFamily="34" charset="-122"/>
                <a:cs typeface="Calibri" pitchFamily="34" charset="-120"/>
              </a:rPr>
              <a:t>The truth is in the code — spread across 45 repos. Reading it all is a multi-week task per question.</a:t>
            </a:r>
            <a:endParaRPr lang="en-US" sz="1250" dirty="0"/>
          </a:p>
        </p:txBody>
      </p:sp>
      <p:sp>
        <p:nvSpPr>
          <p:cNvPr id="10" name="Shape 8"/>
          <p:cNvSpPr/>
          <p:nvPr/>
        </p:nvSpPr>
        <p:spPr>
          <a:xfrm>
            <a:off x="502920" y="2962656"/>
            <a:ext cx="5440680" cy="1298448"/>
          </a:xfrm>
          <a:prstGeom prst="roundRect">
            <a:avLst>
              <a:gd name="adj" fmla="val 5634"/>
            </a:avLst>
          </a:prstGeom>
          <a:solidFill>
            <a:srgbClr val="EEF4FB"/>
          </a:solidFill>
          <a:ln w="12700">
            <a:solidFill>
              <a:srgbClr val="EEF4FB"/>
            </a:solidFill>
            <a:prstDash val="solid"/>
          </a:ln>
        </p:spPr>
      </p:sp>
      <p:sp>
        <p:nvSpPr>
          <p:cNvPr id="11" name="Text 9"/>
          <p:cNvSpPr/>
          <p:nvPr/>
        </p:nvSpPr>
        <p:spPr>
          <a:xfrm>
            <a:off x="731520" y="3090672"/>
            <a:ext cx="5029200"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Departed experts</a:t>
            </a:r>
            <a:endParaRPr lang="en-US" sz="1500" dirty="0"/>
          </a:p>
        </p:txBody>
      </p:sp>
      <p:sp>
        <p:nvSpPr>
          <p:cNvPr id="12" name="Text 10"/>
          <p:cNvSpPr/>
          <p:nvPr/>
        </p:nvSpPr>
        <p:spPr>
          <a:xfrm>
            <a:off x="731520" y="3438144"/>
            <a:ext cx="5029200" cy="731520"/>
          </a:xfrm>
          <a:prstGeom prst="rect">
            <a:avLst/>
          </a:prstGeom>
          <a:noFill/>
          <a:ln/>
        </p:spPr>
        <p:txBody>
          <a:bodyPr wrap="square" lIns="0" tIns="0" rIns="0" bIns="0" rtlCol="0" anchor="ctr"/>
          <a:lstStyle/>
          <a:p>
            <a:pPr indent="0" marL="0">
              <a:buNone/>
            </a:pPr>
            <a:r>
              <a:rPr lang="en-US" sz="1250" dirty="0">
                <a:solidFill>
                  <a:srgbClr val="232838"/>
                </a:solidFill>
                <a:latin typeface="Calibri" pitchFamily="34" charset="0"/>
                <a:ea typeface="Calibri" pitchFamily="34" charset="-122"/>
                <a:cs typeface="Calibri" pitchFamily="34" charset="-120"/>
              </a:rPr>
              <a:t>“Ask Priya” stopped working when Priya left. Tribal knowledge walks out the door.</a:t>
            </a:r>
            <a:endParaRPr lang="en-US" sz="1250" dirty="0"/>
          </a:p>
        </p:txBody>
      </p:sp>
      <p:sp>
        <p:nvSpPr>
          <p:cNvPr id="13" name="Shape 11"/>
          <p:cNvSpPr/>
          <p:nvPr/>
        </p:nvSpPr>
        <p:spPr>
          <a:xfrm>
            <a:off x="6172200" y="2962656"/>
            <a:ext cx="5440680" cy="1298448"/>
          </a:xfrm>
          <a:prstGeom prst="roundRect">
            <a:avLst>
              <a:gd name="adj" fmla="val 5634"/>
            </a:avLst>
          </a:prstGeom>
          <a:solidFill>
            <a:srgbClr val="EEF4FB"/>
          </a:solidFill>
          <a:ln w="12700">
            <a:solidFill>
              <a:srgbClr val="EEF4FB"/>
            </a:solidFill>
            <a:prstDash val="solid"/>
          </a:ln>
        </p:spPr>
      </p:sp>
      <p:sp>
        <p:nvSpPr>
          <p:cNvPr id="14" name="Text 12"/>
          <p:cNvSpPr/>
          <p:nvPr/>
        </p:nvSpPr>
        <p:spPr>
          <a:xfrm>
            <a:off x="6400800" y="3090672"/>
            <a:ext cx="5029200"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Scattered collections</a:t>
            </a:r>
            <a:endParaRPr lang="en-US" sz="1500" dirty="0"/>
          </a:p>
        </p:txBody>
      </p:sp>
      <p:sp>
        <p:nvSpPr>
          <p:cNvPr id="15" name="Text 13"/>
          <p:cNvSpPr/>
          <p:nvPr/>
        </p:nvSpPr>
        <p:spPr>
          <a:xfrm>
            <a:off x="6400800" y="3438144"/>
            <a:ext cx="5029200" cy="731520"/>
          </a:xfrm>
          <a:prstGeom prst="rect">
            <a:avLst/>
          </a:prstGeom>
          <a:noFill/>
          <a:ln/>
        </p:spPr>
        <p:txBody>
          <a:bodyPr wrap="square" lIns="0" tIns="0" rIns="0" bIns="0" rtlCol="0" anchor="ctr"/>
          <a:lstStyle/>
          <a:p>
            <a:pPr indent="0" marL="0">
              <a:buNone/>
            </a:pPr>
            <a:r>
              <a:rPr lang="en-US" sz="1250" dirty="0">
                <a:solidFill>
                  <a:srgbClr val="232838"/>
                </a:solidFill>
                <a:latin typeface="Calibri" pitchFamily="34" charset="0"/>
                <a:ea typeface="Calibri" pitchFamily="34" charset="-122"/>
                <a:cs typeface="Calibri" pitchFamily="34" charset="-120"/>
              </a:rPr>
              <a:t>API examples in Bruno collections “somewhere”; ADRs and NFR docs in five different places.</a:t>
            </a:r>
            <a:endParaRPr lang="en-US" sz="1250" dirty="0"/>
          </a:p>
        </p:txBody>
      </p:sp>
      <p:sp>
        <p:nvSpPr>
          <p:cNvPr id="16" name="Shape 14"/>
          <p:cNvSpPr/>
          <p:nvPr/>
        </p:nvSpPr>
        <p:spPr>
          <a:xfrm>
            <a:off x="502920" y="4617720"/>
            <a:ext cx="11155680" cy="1600200"/>
          </a:xfrm>
          <a:prstGeom prst="roundRect">
            <a:avLst>
              <a:gd name="adj" fmla="val 4571"/>
            </a:avLst>
          </a:prstGeom>
          <a:solidFill>
            <a:srgbClr val="FBE9E6"/>
          </a:solidFill>
          <a:ln w="12700">
            <a:solidFill>
              <a:srgbClr val="A83226"/>
            </a:solidFill>
            <a:prstDash val="solid"/>
          </a:ln>
        </p:spPr>
      </p:sp>
      <p:sp>
        <p:nvSpPr>
          <p:cNvPr id="17" name="Text 15"/>
          <p:cNvSpPr/>
          <p:nvPr/>
        </p:nvSpPr>
        <p:spPr>
          <a:xfrm>
            <a:off x="777240" y="4800600"/>
            <a:ext cx="10607040" cy="365760"/>
          </a:xfrm>
          <a:prstGeom prst="rect">
            <a:avLst/>
          </a:prstGeom>
          <a:noFill/>
          <a:ln/>
        </p:spPr>
        <p:txBody>
          <a:bodyPr wrap="square" lIns="0" tIns="0" rIns="0" bIns="0" rtlCol="0" anchor="ctr"/>
          <a:lstStyle/>
          <a:p>
            <a:pPr indent="0" marL="0">
              <a:buNone/>
            </a:pPr>
            <a:r>
              <a:rPr lang="en-US" sz="1600" b="1" dirty="0">
                <a:solidFill>
                  <a:srgbClr val="A83226"/>
                </a:solidFill>
                <a:latin typeface="Calibri" pitchFamily="34" charset="0"/>
                <a:ea typeface="Calibri" pitchFamily="34" charset="-122"/>
                <a:cs typeface="Calibri" pitchFamily="34" charset="-120"/>
              </a:rPr>
              <a:t>What changed: we now ask AI agents to write our stories, plans, and code.</a:t>
            </a:r>
            <a:endParaRPr lang="en-US" sz="1600" dirty="0"/>
          </a:p>
        </p:txBody>
      </p:sp>
      <p:sp>
        <p:nvSpPr>
          <p:cNvPr id="18" name="Text 16"/>
          <p:cNvSpPr/>
          <p:nvPr/>
        </p:nvSpPr>
        <p:spPr>
          <a:xfrm>
            <a:off x="777240" y="5212080"/>
            <a:ext cx="10607040" cy="914400"/>
          </a:xfrm>
          <a:prstGeom prst="rect">
            <a:avLst/>
          </a:prstGeom>
          <a:noFill/>
          <a:ln/>
        </p:spPr>
        <p:txBody>
          <a:bodyPr wrap="square" lIns="0" tIns="0" rIns="0" bIns="0" rtlCol="0" anchor="ctr"/>
          <a:lstStyle/>
          <a:p>
            <a:pPr indent="0" marL="0">
              <a:buNone/>
            </a:pPr>
            <a:r>
              <a:rPr lang="en-US" sz="1250" dirty="0">
                <a:solidFill>
                  <a:srgbClr val="232838"/>
                </a:solidFill>
                <a:latin typeface="Calibri" pitchFamily="34" charset="0"/>
                <a:ea typeface="Calibri" pitchFamily="34" charset="-122"/>
                <a:cs typeface="Calibri" pitchFamily="34" charset="-120"/>
              </a:rPr>
              <a:t>A developer wastes an afternoon on a stale page. An AI agent reads the same page and — at machine speed, with total confidence — writes code against an API renamed months ago. Ours cheerfully invented an endpoint (</a:t>
            </a:r>
            <a:pPr indent="0" marL="0">
              <a:buNone/>
            </a:pPr>
            <a:r>
              <a:rPr lang="en-US" sz="1250" b="1" dirty="0">
                <a:solidFill>
                  <a:srgbClr val="232838"/>
                </a:solidFill>
                <a:latin typeface="Courier New" pitchFamily="34" charset="0"/>
                <a:ea typeface="Courier New" pitchFamily="34" charset="-122"/>
                <a:cs typeface="Courier New" pitchFamily="34" charset="-120"/>
              </a:rPr>
              <a:t>getCartDiscountsV2</a:t>
            </a:r>
            <a:pPr indent="0" marL="0">
              <a:buNone/>
            </a:pPr>
            <a:r>
              <a:rPr lang="en-US" sz="1250" dirty="0">
                <a:solidFill>
                  <a:srgbClr val="232838"/>
                </a:solidFill>
                <a:latin typeface="Calibri" pitchFamily="34" charset="0"/>
                <a:ea typeface="Calibri" pitchFamily="34" charset="-122"/>
                <a:cs typeface="Calibri" pitchFamily="34" charset="-120"/>
              </a:rPr>
              <a:t>) that has never existed. Stale documentation used to be an annoyance; with AI it becomes confidently amplified wrongness.</a:t>
            </a:r>
            <a:endParaRPr lang="en-US" sz="1250" dirty="0"/>
          </a:p>
        </p:txBody>
      </p:sp>
      <p:sp>
        <p:nvSpPr>
          <p:cNvPr id="19" name="Text 17"/>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5C6470"/>
                </a:solidFill>
                <a:latin typeface="Calibri" pitchFamily="34" charset="0"/>
                <a:ea typeface="Calibri" pitchFamily="34" charset="-122"/>
                <a:cs typeface="Calibri" pitchFamily="34" charset="-120"/>
              </a:rPr>
              <a:t>Commerce Knowledge Base — Architecture Briefing</a:t>
            </a:r>
            <a:endParaRPr lang="en-US" sz="900" dirty="0"/>
          </a:p>
        </p:txBody>
      </p:sp>
      <p:sp>
        <p:nvSpPr>
          <p:cNvPr id="20" name="Text 18"/>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5C64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200" kern="0" dirty="0">
                <a:solidFill>
                  <a:srgbClr val="8A5F00"/>
                </a:solidFill>
                <a:latin typeface="Calibri" pitchFamily="34" charset="0"/>
                <a:ea typeface="Calibri" pitchFamily="34" charset="-122"/>
                <a:cs typeface="Calibri" pitchFamily="34" charset="-120"/>
              </a:rPr>
              <a:t>THE IDEA</a:t>
            </a:r>
            <a:endParaRPr lang="en-US" sz="1100" dirty="0"/>
          </a:p>
        </p:txBody>
      </p:sp>
      <p:sp>
        <p:nvSpPr>
          <p:cNvPr id="3" name="Text 1"/>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Treat knowledge exactly like software</a:t>
            </a:r>
            <a:endParaRPr lang="en-US" sz="3000" dirty="0"/>
          </a:p>
        </p:txBody>
      </p:sp>
      <p:sp>
        <p:nvSpPr>
          <p:cNvPr id="4" name="Text 2"/>
          <p:cNvSpPr/>
          <p:nvPr/>
        </p:nvSpPr>
        <p:spPr>
          <a:xfrm>
            <a:off x="502920" y="1325880"/>
            <a:ext cx="11155680" cy="365760"/>
          </a:xfrm>
          <a:prstGeom prst="rect">
            <a:avLst/>
          </a:prstGeom>
          <a:noFill/>
          <a:ln/>
        </p:spPr>
        <p:txBody>
          <a:bodyPr wrap="square" lIns="0" tIns="0" rIns="0" bIns="0"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We already solved this problem once — for source code. We applied the same playbook to knowledge.</a:t>
            </a:r>
            <a:endParaRPr lang="en-US" sz="1400" dirty="0"/>
          </a:p>
        </p:txBody>
      </p:sp>
      <p:sp>
        <p:nvSpPr>
          <p:cNvPr id="5" name="Text 3"/>
          <p:cNvSpPr/>
          <p:nvPr/>
        </p:nvSpPr>
        <p:spPr>
          <a:xfrm>
            <a:off x="502920" y="1828800"/>
            <a:ext cx="4206240" cy="320040"/>
          </a:xfrm>
          <a:prstGeom prst="rect">
            <a:avLst/>
          </a:prstGeom>
          <a:solidFill>
            <a:srgbClr val="1E276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Software engineering has…</a:t>
            </a:r>
            <a:endParaRPr lang="en-US" sz="1300" dirty="0"/>
          </a:p>
        </p:txBody>
      </p:sp>
      <p:sp>
        <p:nvSpPr>
          <p:cNvPr id="6" name="Text 4"/>
          <p:cNvSpPr/>
          <p:nvPr/>
        </p:nvSpPr>
        <p:spPr>
          <a:xfrm>
            <a:off x="5257800" y="1828800"/>
            <a:ext cx="6400800" cy="320040"/>
          </a:xfrm>
          <a:prstGeom prst="rect">
            <a:avLst/>
          </a:prstGeom>
          <a:solidFill>
            <a:srgbClr val="2C7A4B"/>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…so the knowledge base has</a:t>
            </a:r>
            <a:endParaRPr lang="en-US" sz="1300" dirty="0"/>
          </a:p>
        </p:txBody>
      </p:sp>
      <p:sp>
        <p:nvSpPr>
          <p:cNvPr id="7" name="Shape 5"/>
          <p:cNvSpPr/>
          <p:nvPr/>
        </p:nvSpPr>
        <p:spPr>
          <a:xfrm>
            <a:off x="502920" y="2286000"/>
            <a:ext cx="4206240" cy="603504"/>
          </a:xfrm>
          <a:prstGeom prst="roundRect">
            <a:avLst>
              <a:gd name="adj" fmla="val 12121"/>
            </a:avLst>
          </a:prstGeom>
          <a:solidFill>
            <a:srgbClr val="EEF4FB"/>
          </a:solidFill>
          <a:ln w="12700">
            <a:solidFill>
              <a:srgbClr val="EEF4FB"/>
            </a:solidFill>
            <a:prstDash val="solid"/>
          </a:ln>
        </p:spPr>
      </p:sp>
      <p:sp>
        <p:nvSpPr>
          <p:cNvPr id="8" name="Text 6"/>
          <p:cNvSpPr/>
          <p:nvPr/>
        </p:nvSpPr>
        <p:spPr>
          <a:xfrm>
            <a:off x="731520" y="2286000"/>
            <a:ext cx="3840480" cy="60350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One source of truth (git)</a:t>
            </a:r>
            <a:endParaRPr lang="en-US" sz="1250" dirty="0"/>
          </a:p>
        </p:txBody>
      </p:sp>
      <p:sp>
        <p:nvSpPr>
          <p:cNvPr id="9" name="Shape 7"/>
          <p:cNvSpPr/>
          <p:nvPr/>
        </p:nvSpPr>
        <p:spPr>
          <a:xfrm>
            <a:off x="4800600" y="2459736"/>
            <a:ext cx="384048" cy="256032"/>
          </a:xfrm>
          <a:prstGeom prst="rightArrow">
            <a:avLst/>
          </a:prstGeom>
          <a:solidFill>
            <a:srgbClr val="F0A500"/>
          </a:solidFill>
          <a:ln/>
        </p:spPr>
      </p:sp>
      <p:sp>
        <p:nvSpPr>
          <p:cNvPr id="10" name="Shape 8"/>
          <p:cNvSpPr/>
          <p:nvPr/>
        </p:nvSpPr>
        <p:spPr>
          <a:xfrm>
            <a:off x="5257800" y="2286000"/>
            <a:ext cx="6400800" cy="603504"/>
          </a:xfrm>
          <a:prstGeom prst="roundRect">
            <a:avLst>
              <a:gd name="adj" fmla="val 12121"/>
            </a:avLst>
          </a:prstGeom>
          <a:solidFill>
            <a:srgbClr val="E4F2E9"/>
          </a:solidFill>
          <a:ln w="12700">
            <a:solidFill>
              <a:srgbClr val="E4F2E9"/>
            </a:solidFill>
            <a:prstDash val="solid"/>
          </a:ln>
        </p:spPr>
      </p:sp>
      <p:sp>
        <p:nvSpPr>
          <p:cNvPr id="11" name="Text 9"/>
          <p:cNvSpPr/>
          <p:nvPr/>
        </p:nvSpPr>
        <p:spPr>
          <a:xfrm>
            <a:off x="5486400" y="2286000"/>
            <a:ext cx="6035040" cy="603504"/>
          </a:xfrm>
          <a:prstGeom prst="rect">
            <a:avLst/>
          </a:prstGeom>
          <a:noFill/>
          <a:ln/>
        </p:spPr>
        <p:txBody>
          <a:bodyPr wrap="square" lIns="0" tIns="0" rIns="0" bIns="0" rtlCol="0" anchor="ctr"/>
          <a:lstStyle/>
          <a:p>
            <a:pPr indent="0" marL="0">
              <a:buNone/>
            </a:pPr>
            <a:r>
              <a:rPr lang="en-US" sz="1200" dirty="0">
                <a:solidFill>
                  <a:srgbClr val="232838"/>
                </a:solidFill>
                <a:latin typeface="Calibri" pitchFamily="34" charset="0"/>
                <a:ea typeface="Calibri" pitchFamily="34" charset="-122"/>
                <a:cs typeface="Calibri" pitchFamily="34" charset="-120"/>
              </a:rPr>
              <a:t>One declared input file (seed.yaml) + structured, schema-validated sources</a:t>
            </a:r>
            <a:endParaRPr lang="en-US" sz="1200" dirty="0"/>
          </a:p>
        </p:txBody>
      </p:sp>
      <p:sp>
        <p:nvSpPr>
          <p:cNvPr id="12" name="Shape 10"/>
          <p:cNvSpPr/>
          <p:nvPr/>
        </p:nvSpPr>
        <p:spPr>
          <a:xfrm>
            <a:off x="502920" y="2999232"/>
            <a:ext cx="4206240" cy="603504"/>
          </a:xfrm>
          <a:prstGeom prst="roundRect">
            <a:avLst>
              <a:gd name="adj" fmla="val 12121"/>
            </a:avLst>
          </a:prstGeom>
          <a:solidFill>
            <a:srgbClr val="EEF4FB"/>
          </a:solidFill>
          <a:ln w="12700">
            <a:solidFill>
              <a:srgbClr val="EEF4FB"/>
            </a:solidFill>
            <a:prstDash val="solid"/>
          </a:ln>
        </p:spPr>
      </p:sp>
      <p:sp>
        <p:nvSpPr>
          <p:cNvPr id="13" name="Text 11"/>
          <p:cNvSpPr/>
          <p:nvPr/>
        </p:nvSpPr>
        <p:spPr>
          <a:xfrm>
            <a:off x="731520" y="2999232"/>
            <a:ext cx="3840480" cy="60350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Deterministic builds</a:t>
            </a:r>
            <a:endParaRPr lang="en-US" sz="1250" dirty="0"/>
          </a:p>
        </p:txBody>
      </p:sp>
      <p:sp>
        <p:nvSpPr>
          <p:cNvPr id="14" name="Shape 12"/>
          <p:cNvSpPr/>
          <p:nvPr/>
        </p:nvSpPr>
        <p:spPr>
          <a:xfrm>
            <a:off x="4800600" y="3172968"/>
            <a:ext cx="384048" cy="256032"/>
          </a:xfrm>
          <a:prstGeom prst="rightArrow">
            <a:avLst/>
          </a:prstGeom>
          <a:solidFill>
            <a:srgbClr val="F0A500"/>
          </a:solidFill>
          <a:ln/>
        </p:spPr>
      </p:sp>
      <p:sp>
        <p:nvSpPr>
          <p:cNvPr id="15" name="Shape 13"/>
          <p:cNvSpPr/>
          <p:nvPr/>
        </p:nvSpPr>
        <p:spPr>
          <a:xfrm>
            <a:off x="5257800" y="2999232"/>
            <a:ext cx="6400800" cy="603504"/>
          </a:xfrm>
          <a:prstGeom prst="roundRect">
            <a:avLst>
              <a:gd name="adj" fmla="val 12121"/>
            </a:avLst>
          </a:prstGeom>
          <a:solidFill>
            <a:srgbClr val="E4F2E9"/>
          </a:solidFill>
          <a:ln w="12700">
            <a:solidFill>
              <a:srgbClr val="E4F2E9"/>
            </a:solidFill>
            <a:prstDash val="solid"/>
          </a:ln>
        </p:spPr>
      </p:sp>
      <p:sp>
        <p:nvSpPr>
          <p:cNvPr id="16" name="Text 14"/>
          <p:cNvSpPr/>
          <p:nvPr/>
        </p:nvSpPr>
        <p:spPr>
          <a:xfrm>
            <a:off x="5486400" y="2999232"/>
            <a:ext cx="6035040" cy="603504"/>
          </a:xfrm>
          <a:prstGeom prst="rect">
            <a:avLst/>
          </a:prstGeom>
          <a:noFill/>
          <a:ln/>
        </p:spPr>
        <p:txBody>
          <a:bodyPr wrap="square" lIns="0" tIns="0" rIns="0" bIns="0" rtlCol="0" anchor="ctr"/>
          <a:lstStyle/>
          <a:p>
            <a:pPr indent="0" marL="0">
              <a:buNone/>
            </a:pPr>
            <a:r>
              <a:rPr lang="en-US" sz="1200" dirty="0">
                <a:solidFill>
                  <a:srgbClr val="232838"/>
                </a:solidFill>
                <a:latin typeface="Calibri" pitchFamily="34" charset="0"/>
                <a:ea typeface="Calibri" pitchFamily="34" charset="-122"/>
                <a:cs typeface="Calibri" pitchFamily="34" charset="-120"/>
              </a:rPr>
              <a:t>A boring Python generator: same input, byte-identical output — every time</a:t>
            </a:r>
            <a:endParaRPr lang="en-US" sz="1200" dirty="0"/>
          </a:p>
        </p:txBody>
      </p:sp>
      <p:sp>
        <p:nvSpPr>
          <p:cNvPr id="17" name="Shape 15"/>
          <p:cNvSpPr/>
          <p:nvPr/>
        </p:nvSpPr>
        <p:spPr>
          <a:xfrm>
            <a:off x="502920" y="3712464"/>
            <a:ext cx="4206240" cy="603504"/>
          </a:xfrm>
          <a:prstGeom prst="roundRect">
            <a:avLst>
              <a:gd name="adj" fmla="val 12121"/>
            </a:avLst>
          </a:prstGeom>
          <a:solidFill>
            <a:srgbClr val="EEF4FB"/>
          </a:solidFill>
          <a:ln w="12700">
            <a:solidFill>
              <a:srgbClr val="EEF4FB"/>
            </a:solidFill>
            <a:prstDash val="solid"/>
          </a:ln>
        </p:spPr>
      </p:sp>
      <p:sp>
        <p:nvSpPr>
          <p:cNvPr id="18" name="Text 16"/>
          <p:cNvSpPr/>
          <p:nvPr/>
        </p:nvSpPr>
        <p:spPr>
          <a:xfrm>
            <a:off x="731520" y="3712464"/>
            <a:ext cx="3840480" cy="60350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Tests that block bad merges</a:t>
            </a:r>
            <a:endParaRPr lang="en-US" sz="1250" dirty="0"/>
          </a:p>
        </p:txBody>
      </p:sp>
      <p:sp>
        <p:nvSpPr>
          <p:cNvPr id="19" name="Shape 17"/>
          <p:cNvSpPr/>
          <p:nvPr/>
        </p:nvSpPr>
        <p:spPr>
          <a:xfrm>
            <a:off x="4800600" y="3886200"/>
            <a:ext cx="384048" cy="256032"/>
          </a:xfrm>
          <a:prstGeom prst="rightArrow">
            <a:avLst/>
          </a:prstGeom>
          <a:solidFill>
            <a:srgbClr val="F0A500"/>
          </a:solidFill>
          <a:ln/>
        </p:spPr>
      </p:sp>
      <p:sp>
        <p:nvSpPr>
          <p:cNvPr id="20" name="Shape 18"/>
          <p:cNvSpPr/>
          <p:nvPr/>
        </p:nvSpPr>
        <p:spPr>
          <a:xfrm>
            <a:off x="5257800" y="3712464"/>
            <a:ext cx="6400800" cy="603504"/>
          </a:xfrm>
          <a:prstGeom prst="roundRect">
            <a:avLst>
              <a:gd name="adj" fmla="val 12121"/>
            </a:avLst>
          </a:prstGeom>
          <a:solidFill>
            <a:srgbClr val="E4F2E9"/>
          </a:solidFill>
          <a:ln w="12700">
            <a:solidFill>
              <a:srgbClr val="E4F2E9"/>
            </a:solidFill>
            <a:prstDash val="solid"/>
          </a:ln>
        </p:spPr>
      </p:sp>
      <p:sp>
        <p:nvSpPr>
          <p:cNvPr id="21" name="Text 19"/>
          <p:cNvSpPr/>
          <p:nvPr/>
        </p:nvSpPr>
        <p:spPr>
          <a:xfrm>
            <a:off x="5486400" y="3712464"/>
            <a:ext cx="6035040" cy="603504"/>
          </a:xfrm>
          <a:prstGeom prst="rect">
            <a:avLst/>
          </a:prstGeom>
          <a:noFill/>
          <a:ln/>
        </p:spPr>
        <p:txBody>
          <a:bodyPr wrap="square" lIns="0" tIns="0" rIns="0" bIns="0" rtlCol="0" anchor="ctr"/>
          <a:lstStyle/>
          <a:p>
            <a:pPr indent="0" marL="0">
              <a:buNone/>
            </a:pPr>
            <a:r>
              <a:rPr lang="en-US" sz="1200" dirty="0">
                <a:solidFill>
                  <a:srgbClr val="232838"/>
                </a:solidFill>
                <a:latin typeface="Calibri" pitchFamily="34" charset="0"/>
                <a:ea typeface="Calibri" pitchFamily="34" charset="-122"/>
                <a:cs typeface="Calibri" pitchFamily="34" charset="-120"/>
              </a:rPr>
              <a:t>Retrieval exams in CI: does search still find the right page? Regression = red build</a:t>
            </a:r>
            <a:endParaRPr lang="en-US" sz="1200" dirty="0"/>
          </a:p>
        </p:txBody>
      </p:sp>
      <p:sp>
        <p:nvSpPr>
          <p:cNvPr id="22" name="Shape 20"/>
          <p:cNvSpPr/>
          <p:nvPr/>
        </p:nvSpPr>
        <p:spPr>
          <a:xfrm>
            <a:off x="502920" y="4425696"/>
            <a:ext cx="4206240" cy="603504"/>
          </a:xfrm>
          <a:prstGeom prst="roundRect">
            <a:avLst>
              <a:gd name="adj" fmla="val 12121"/>
            </a:avLst>
          </a:prstGeom>
          <a:solidFill>
            <a:srgbClr val="EEF4FB"/>
          </a:solidFill>
          <a:ln w="12700">
            <a:solidFill>
              <a:srgbClr val="EEF4FB"/>
            </a:solidFill>
            <a:prstDash val="solid"/>
          </a:ln>
        </p:spPr>
      </p:sp>
      <p:sp>
        <p:nvSpPr>
          <p:cNvPr id="23" name="Text 21"/>
          <p:cNvSpPr/>
          <p:nvPr/>
        </p:nvSpPr>
        <p:spPr>
          <a:xfrm>
            <a:off x="731520" y="4425696"/>
            <a:ext cx="3840480" cy="60350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Code review + ownership</a:t>
            </a:r>
            <a:endParaRPr lang="en-US" sz="1250" dirty="0"/>
          </a:p>
        </p:txBody>
      </p:sp>
      <p:sp>
        <p:nvSpPr>
          <p:cNvPr id="24" name="Shape 22"/>
          <p:cNvSpPr/>
          <p:nvPr/>
        </p:nvSpPr>
        <p:spPr>
          <a:xfrm>
            <a:off x="4800600" y="4599432"/>
            <a:ext cx="384048" cy="256032"/>
          </a:xfrm>
          <a:prstGeom prst="rightArrow">
            <a:avLst/>
          </a:prstGeom>
          <a:solidFill>
            <a:srgbClr val="F0A500"/>
          </a:solidFill>
          <a:ln/>
        </p:spPr>
      </p:sp>
      <p:sp>
        <p:nvSpPr>
          <p:cNvPr id="25" name="Shape 23"/>
          <p:cNvSpPr/>
          <p:nvPr/>
        </p:nvSpPr>
        <p:spPr>
          <a:xfrm>
            <a:off x="5257800" y="4425696"/>
            <a:ext cx="6400800" cy="603504"/>
          </a:xfrm>
          <a:prstGeom prst="roundRect">
            <a:avLst>
              <a:gd name="adj" fmla="val 12121"/>
            </a:avLst>
          </a:prstGeom>
          <a:solidFill>
            <a:srgbClr val="E4F2E9"/>
          </a:solidFill>
          <a:ln w="12700">
            <a:solidFill>
              <a:srgbClr val="E4F2E9"/>
            </a:solidFill>
            <a:prstDash val="solid"/>
          </a:ln>
        </p:spPr>
      </p:sp>
      <p:sp>
        <p:nvSpPr>
          <p:cNvPr id="26" name="Text 24"/>
          <p:cNvSpPr/>
          <p:nvPr/>
        </p:nvSpPr>
        <p:spPr>
          <a:xfrm>
            <a:off x="5486400" y="4425696"/>
            <a:ext cx="6035040" cy="603504"/>
          </a:xfrm>
          <a:prstGeom prst="rect">
            <a:avLst/>
          </a:prstGeom>
          <a:noFill/>
          <a:ln/>
        </p:spPr>
        <p:txBody>
          <a:bodyPr wrap="square" lIns="0" tIns="0" rIns="0" bIns="0" rtlCol="0" anchor="ctr"/>
          <a:lstStyle/>
          <a:p>
            <a:pPr indent="0" marL="0">
              <a:buNone/>
            </a:pPr>
            <a:r>
              <a:rPr lang="en-US" sz="1200" dirty="0">
                <a:solidFill>
                  <a:srgbClr val="232838"/>
                </a:solidFill>
                <a:latin typeface="Calibri" pitchFamily="34" charset="0"/>
                <a:ea typeface="Calibri" pitchFamily="34" charset="-122"/>
                <a:cs typeface="Calibri" pitchFamily="34" charset="-120"/>
              </a:rPr>
              <a:t>Every knowledge change is a pull request; every fact has an owner (CODEOWNERS)</a:t>
            </a:r>
            <a:endParaRPr lang="en-US" sz="1200" dirty="0"/>
          </a:p>
        </p:txBody>
      </p:sp>
      <p:sp>
        <p:nvSpPr>
          <p:cNvPr id="27" name="Shape 25"/>
          <p:cNvSpPr/>
          <p:nvPr/>
        </p:nvSpPr>
        <p:spPr>
          <a:xfrm>
            <a:off x="502920" y="5138928"/>
            <a:ext cx="4206240" cy="603504"/>
          </a:xfrm>
          <a:prstGeom prst="roundRect">
            <a:avLst>
              <a:gd name="adj" fmla="val 12121"/>
            </a:avLst>
          </a:prstGeom>
          <a:solidFill>
            <a:srgbClr val="EEF4FB"/>
          </a:solidFill>
          <a:ln w="12700">
            <a:solidFill>
              <a:srgbClr val="EEF4FB"/>
            </a:solidFill>
            <a:prstDash val="solid"/>
          </a:ln>
        </p:spPr>
      </p:sp>
      <p:sp>
        <p:nvSpPr>
          <p:cNvPr id="28" name="Text 26"/>
          <p:cNvSpPr/>
          <p:nvPr/>
        </p:nvSpPr>
        <p:spPr>
          <a:xfrm>
            <a:off x="731520" y="5138928"/>
            <a:ext cx="3840480" cy="60350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Dependency freshness bots</a:t>
            </a:r>
            <a:endParaRPr lang="en-US" sz="1250" dirty="0"/>
          </a:p>
        </p:txBody>
      </p:sp>
      <p:sp>
        <p:nvSpPr>
          <p:cNvPr id="29" name="Shape 27"/>
          <p:cNvSpPr/>
          <p:nvPr/>
        </p:nvSpPr>
        <p:spPr>
          <a:xfrm>
            <a:off x="4800600" y="5312664"/>
            <a:ext cx="384048" cy="256032"/>
          </a:xfrm>
          <a:prstGeom prst="rightArrow">
            <a:avLst/>
          </a:prstGeom>
          <a:solidFill>
            <a:srgbClr val="F0A500"/>
          </a:solidFill>
          <a:ln/>
        </p:spPr>
      </p:sp>
      <p:sp>
        <p:nvSpPr>
          <p:cNvPr id="30" name="Shape 28"/>
          <p:cNvSpPr/>
          <p:nvPr/>
        </p:nvSpPr>
        <p:spPr>
          <a:xfrm>
            <a:off x="5257800" y="5138928"/>
            <a:ext cx="6400800" cy="603504"/>
          </a:xfrm>
          <a:prstGeom prst="roundRect">
            <a:avLst>
              <a:gd name="adj" fmla="val 12121"/>
            </a:avLst>
          </a:prstGeom>
          <a:solidFill>
            <a:srgbClr val="E4F2E9"/>
          </a:solidFill>
          <a:ln w="12700">
            <a:solidFill>
              <a:srgbClr val="E4F2E9"/>
            </a:solidFill>
            <a:prstDash val="solid"/>
          </a:ln>
        </p:spPr>
      </p:sp>
      <p:sp>
        <p:nvSpPr>
          <p:cNvPr id="31" name="Text 29"/>
          <p:cNvSpPr/>
          <p:nvPr/>
        </p:nvSpPr>
        <p:spPr>
          <a:xfrm>
            <a:off x="5486400" y="5138928"/>
            <a:ext cx="6035040" cy="603504"/>
          </a:xfrm>
          <a:prstGeom prst="rect">
            <a:avLst/>
          </a:prstGeom>
          <a:noFill/>
          <a:ln/>
        </p:spPr>
        <p:txBody>
          <a:bodyPr wrap="square" lIns="0" tIns="0" rIns="0" bIns="0" rtlCol="0" anchor="ctr"/>
          <a:lstStyle/>
          <a:p>
            <a:pPr indent="0" marL="0">
              <a:buNone/>
            </a:pPr>
            <a:r>
              <a:rPr lang="en-US" sz="1200" dirty="0">
                <a:solidFill>
                  <a:srgbClr val="232838"/>
                </a:solidFill>
                <a:latin typeface="Calibri" pitchFamily="34" charset="0"/>
                <a:ea typeface="Calibri" pitchFamily="34" charset="-122"/>
                <a:cs typeface="Calibri" pitchFamily="34" charset="-120"/>
              </a:rPr>
              <a:t>A nightly scan detects changed services and re-ingests only those</a:t>
            </a:r>
            <a:endParaRPr lang="en-US" sz="1200" dirty="0"/>
          </a:p>
        </p:txBody>
      </p:sp>
      <p:sp>
        <p:nvSpPr>
          <p:cNvPr id="32" name="Text 30"/>
          <p:cNvSpPr/>
          <p:nvPr/>
        </p:nvSpPr>
        <p:spPr>
          <a:xfrm>
            <a:off x="502920" y="5943600"/>
            <a:ext cx="1115568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Output format: plain markdown files with structured metadata — readable by every human, every git host, and every AI agent.</a:t>
            </a:r>
            <a:endParaRPr lang="en-US" sz="1300" dirty="0"/>
          </a:p>
        </p:txBody>
      </p:sp>
      <p:sp>
        <p:nvSpPr>
          <p:cNvPr id="33" name="Text 31"/>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5C6470"/>
                </a:solidFill>
                <a:latin typeface="Calibri" pitchFamily="34" charset="0"/>
                <a:ea typeface="Calibri" pitchFamily="34" charset="-122"/>
                <a:cs typeface="Calibri" pitchFamily="34" charset="-120"/>
              </a:rPr>
              <a:t>Commerce Knowledge Base — Architecture Briefing</a:t>
            </a:r>
            <a:endParaRPr lang="en-US" sz="900" dirty="0"/>
          </a:p>
        </p:txBody>
      </p:sp>
      <p:sp>
        <p:nvSpPr>
          <p:cNvPr id="34" name="Text 32"/>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5C647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200" kern="0" dirty="0">
                <a:solidFill>
                  <a:srgbClr val="8A5F00"/>
                </a:solidFill>
                <a:latin typeface="Calibri" pitchFamily="34" charset="0"/>
                <a:ea typeface="Calibri" pitchFamily="34" charset="-122"/>
                <a:cs typeface="Calibri" pitchFamily="34" charset="-120"/>
              </a:rPr>
              <a:t>HOW IT WORKS</a:t>
            </a:r>
            <a:endParaRPr lang="en-US" sz="1100" dirty="0"/>
          </a:p>
        </p:txBody>
      </p:sp>
      <p:sp>
        <p:nvSpPr>
          <p:cNvPr id="3" name="Text 1"/>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Three layers, one rule: everything is derived</a:t>
            </a:r>
            <a:endParaRPr lang="en-US" sz="3000" dirty="0"/>
          </a:p>
        </p:txBody>
      </p:sp>
      <p:sp>
        <p:nvSpPr>
          <p:cNvPr id="4" name="Shape 2"/>
          <p:cNvSpPr/>
          <p:nvPr/>
        </p:nvSpPr>
        <p:spPr>
          <a:xfrm>
            <a:off x="502920" y="1600200"/>
            <a:ext cx="2148840" cy="2286000"/>
          </a:xfrm>
          <a:prstGeom prst="roundRect">
            <a:avLst>
              <a:gd name="adj" fmla="val 3404"/>
            </a:avLst>
          </a:prstGeom>
          <a:solidFill>
            <a:srgbClr val="F0A500"/>
          </a:solidFill>
          <a:ln w="12700">
            <a:solidFill>
              <a:srgbClr val="F0A500"/>
            </a:solidFill>
            <a:prstDash val="solid"/>
          </a:ln>
        </p:spPr>
      </p:sp>
      <p:sp>
        <p:nvSpPr>
          <p:cNvPr id="5" name="Text 3"/>
          <p:cNvSpPr/>
          <p:nvPr/>
        </p:nvSpPr>
        <p:spPr>
          <a:xfrm>
            <a:off x="640080" y="1755648"/>
            <a:ext cx="1874520" cy="320040"/>
          </a:xfrm>
          <a:prstGeom prst="rect">
            <a:avLst/>
          </a:prstGeom>
          <a:noFill/>
          <a:ln/>
        </p:spPr>
        <p:txBody>
          <a:bodyPr wrap="square" lIns="0" tIns="0" rIns="0" bIns="0" rtlCol="0" anchor="ctr"/>
          <a:lstStyle/>
          <a:p>
            <a:pPr indent="0" marL="0">
              <a:buNone/>
            </a:pPr>
            <a:r>
              <a:rPr lang="en-US" sz="1300" b="1" dirty="0">
                <a:solidFill>
                  <a:srgbClr val="662D00"/>
                </a:solidFill>
                <a:latin typeface="Courier New" pitchFamily="34" charset="0"/>
                <a:ea typeface="Courier New" pitchFamily="34" charset="-122"/>
                <a:cs typeface="Courier New" pitchFamily="34" charset="-120"/>
              </a:rPr>
              <a:t>seed.yaml</a:t>
            </a:r>
            <a:endParaRPr lang="en-US" sz="1300" dirty="0"/>
          </a:p>
        </p:txBody>
      </p:sp>
      <p:sp>
        <p:nvSpPr>
          <p:cNvPr id="6" name="Text 4"/>
          <p:cNvSpPr/>
          <p:nvPr/>
        </p:nvSpPr>
        <p:spPr>
          <a:xfrm>
            <a:off x="640080" y="2084832"/>
            <a:ext cx="1874520" cy="274320"/>
          </a:xfrm>
          <a:prstGeom prst="rect">
            <a:avLst/>
          </a:prstGeom>
          <a:noFill/>
          <a:ln/>
        </p:spPr>
        <p:txBody>
          <a:bodyPr wrap="square" lIns="0" tIns="0" rIns="0" bIns="0" rtlCol="0" anchor="ctr"/>
          <a:lstStyle/>
          <a:p>
            <a:pPr indent="0" marL="0">
              <a:buNone/>
            </a:pPr>
            <a:r>
              <a:rPr lang="en-US" sz="1100" b="1" dirty="0">
                <a:solidFill>
                  <a:srgbClr val="662D00"/>
                </a:solidFill>
                <a:latin typeface="Calibri" pitchFamily="34" charset="0"/>
                <a:ea typeface="Calibri" pitchFamily="34" charset="-122"/>
                <a:cs typeface="Calibri" pitchFamily="34" charset="-120"/>
              </a:rPr>
              <a:t>The recipe</a:t>
            </a:r>
            <a:endParaRPr lang="en-US" sz="1100" dirty="0"/>
          </a:p>
        </p:txBody>
      </p:sp>
      <p:sp>
        <p:nvSpPr>
          <p:cNvPr id="7" name="Text 5"/>
          <p:cNvSpPr/>
          <p:nvPr/>
        </p:nvSpPr>
        <p:spPr>
          <a:xfrm>
            <a:off x="640080" y="2395728"/>
            <a:ext cx="1874520" cy="1371600"/>
          </a:xfrm>
          <a:prstGeom prst="rect">
            <a:avLst/>
          </a:prstGeom>
          <a:noFill/>
          <a:ln/>
        </p:spPr>
        <p:txBody>
          <a:bodyPr wrap="square" lIns="0" tIns="0" rIns="0" bIns="0" rtlCol="0" anchor="ctr"/>
          <a:lstStyle/>
          <a:p>
            <a:pPr indent="0" marL="0">
              <a:buNone/>
            </a:pPr>
            <a:r>
              <a:rPr lang="en-US" sz="1050" dirty="0">
                <a:solidFill>
                  <a:srgbClr val="232838"/>
                </a:solidFill>
                <a:latin typeface="Calibri" pitchFamily="34" charset="0"/>
                <a:ea typeface="Calibri" pitchFamily="34" charset="-122"/>
                <a:cs typeface="Calibri" pitchFamily="34" charset="-120"/>
              </a:rPr>
              <a:t>One file declares every input: repos, wiki pages, API collections. The only file humans edit.</a:t>
            </a:r>
            <a:endParaRPr lang="en-US" sz="1050" dirty="0"/>
          </a:p>
        </p:txBody>
      </p:sp>
      <p:sp>
        <p:nvSpPr>
          <p:cNvPr id="8" name="Shape 6"/>
          <p:cNvSpPr/>
          <p:nvPr/>
        </p:nvSpPr>
        <p:spPr>
          <a:xfrm>
            <a:off x="2660904" y="2578608"/>
            <a:ext cx="237744" cy="292608"/>
          </a:xfrm>
          <a:prstGeom prst="rightArrow">
            <a:avLst/>
          </a:prstGeom>
          <a:solidFill>
            <a:srgbClr val="5C6470"/>
          </a:solidFill>
          <a:ln/>
        </p:spPr>
      </p:sp>
      <p:sp>
        <p:nvSpPr>
          <p:cNvPr id="9" name="Shape 7"/>
          <p:cNvSpPr/>
          <p:nvPr/>
        </p:nvSpPr>
        <p:spPr>
          <a:xfrm>
            <a:off x="2898648" y="1600200"/>
            <a:ext cx="2148840" cy="2286000"/>
          </a:xfrm>
          <a:prstGeom prst="roundRect">
            <a:avLst>
              <a:gd name="adj" fmla="val 3404"/>
            </a:avLst>
          </a:prstGeom>
          <a:solidFill>
            <a:srgbClr val="ECE7FA"/>
          </a:solidFill>
          <a:ln w="12700">
            <a:solidFill>
              <a:srgbClr val="ECE7FA"/>
            </a:solidFill>
            <a:prstDash val="solid"/>
          </a:ln>
        </p:spPr>
      </p:sp>
      <p:sp>
        <p:nvSpPr>
          <p:cNvPr id="10" name="Text 8"/>
          <p:cNvSpPr/>
          <p:nvPr/>
        </p:nvSpPr>
        <p:spPr>
          <a:xfrm>
            <a:off x="3035808" y="1755648"/>
            <a:ext cx="1874520" cy="320040"/>
          </a:xfrm>
          <a:prstGeom prst="rect">
            <a:avLst/>
          </a:prstGeom>
          <a:noFill/>
          <a:ln/>
        </p:spPr>
        <p:txBody>
          <a:bodyPr wrap="square" lIns="0" tIns="0" rIns="0" bIns="0" rtlCol="0" anchor="ctr"/>
          <a:lstStyle/>
          <a:p>
            <a:pPr indent="0" marL="0">
              <a:buNone/>
            </a:pPr>
            <a:r>
              <a:rPr lang="en-US" sz="1300" b="1" dirty="0">
                <a:solidFill>
                  <a:srgbClr val="4F3A9E"/>
                </a:solidFill>
                <a:latin typeface="Courier New" pitchFamily="34" charset="0"/>
                <a:ea typeface="Courier New" pitchFamily="34" charset="-122"/>
                <a:cs typeface="Courier New" pitchFamily="34" charset="-120"/>
              </a:rPr>
              <a:t>AI ingest</a:t>
            </a:r>
            <a:endParaRPr lang="en-US" sz="1300" dirty="0"/>
          </a:p>
        </p:txBody>
      </p:sp>
      <p:sp>
        <p:nvSpPr>
          <p:cNvPr id="11" name="Text 9"/>
          <p:cNvSpPr/>
          <p:nvPr/>
        </p:nvSpPr>
        <p:spPr>
          <a:xfrm>
            <a:off x="3035808" y="2084832"/>
            <a:ext cx="1874520" cy="274320"/>
          </a:xfrm>
          <a:prstGeom prst="rect">
            <a:avLst/>
          </a:prstGeom>
          <a:noFill/>
          <a:ln/>
        </p:spPr>
        <p:txBody>
          <a:bodyPr wrap="square" lIns="0" tIns="0" rIns="0" bIns="0" rtlCol="0" anchor="ctr"/>
          <a:lstStyle/>
          <a:p>
            <a:pPr indent="0" marL="0">
              <a:buNone/>
            </a:pPr>
            <a:r>
              <a:rPr lang="en-US" sz="1100" b="1" dirty="0">
                <a:solidFill>
                  <a:srgbClr val="4F3A9E"/>
                </a:solidFill>
                <a:latin typeface="Calibri" pitchFamily="34" charset="0"/>
                <a:ea typeface="Calibri" pitchFamily="34" charset="-122"/>
                <a:cs typeface="Calibri" pitchFamily="34" charset="-120"/>
              </a:rPr>
              <a:t>The scanner</a:t>
            </a:r>
            <a:endParaRPr lang="en-US" sz="1100" dirty="0"/>
          </a:p>
        </p:txBody>
      </p:sp>
      <p:sp>
        <p:nvSpPr>
          <p:cNvPr id="12" name="Text 10"/>
          <p:cNvSpPr/>
          <p:nvPr/>
        </p:nvSpPr>
        <p:spPr>
          <a:xfrm>
            <a:off x="3035808" y="2395728"/>
            <a:ext cx="1874520" cy="1371600"/>
          </a:xfrm>
          <a:prstGeom prst="rect">
            <a:avLst/>
          </a:prstGeom>
          <a:noFill/>
          <a:ln/>
        </p:spPr>
        <p:txBody>
          <a:bodyPr wrap="square" lIns="0" tIns="0" rIns="0" bIns="0" rtlCol="0" anchor="ctr"/>
          <a:lstStyle/>
          <a:p>
            <a:pPr indent="0" marL="0">
              <a:buNone/>
            </a:pPr>
            <a:r>
              <a:rPr lang="en-US" sz="1050" dirty="0">
                <a:solidFill>
                  <a:srgbClr val="232838"/>
                </a:solidFill>
                <a:latin typeface="Calibri" pitchFamily="34" charset="0"/>
                <a:ea typeface="Calibri" pitchFamily="34" charset="-122"/>
                <a:cs typeface="Calibri" pitchFamily="34" charset="-120"/>
              </a:rPr>
              <a:t>An LLM reads the actual Java code, wiki, and collections → writes structured YAML. The only step that costs LLM $.</a:t>
            </a:r>
            <a:endParaRPr lang="en-US" sz="1050" dirty="0"/>
          </a:p>
        </p:txBody>
      </p:sp>
      <p:sp>
        <p:nvSpPr>
          <p:cNvPr id="13" name="Shape 11"/>
          <p:cNvSpPr/>
          <p:nvPr/>
        </p:nvSpPr>
        <p:spPr>
          <a:xfrm>
            <a:off x="5056632" y="2578608"/>
            <a:ext cx="237744" cy="292608"/>
          </a:xfrm>
          <a:prstGeom prst="rightArrow">
            <a:avLst/>
          </a:prstGeom>
          <a:solidFill>
            <a:srgbClr val="5C6470"/>
          </a:solidFill>
          <a:ln/>
        </p:spPr>
      </p:sp>
      <p:sp>
        <p:nvSpPr>
          <p:cNvPr id="14" name="Shape 12"/>
          <p:cNvSpPr/>
          <p:nvPr/>
        </p:nvSpPr>
        <p:spPr>
          <a:xfrm>
            <a:off x="5294376" y="1600200"/>
            <a:ext cx="2148840" cy="2286000"/>
          </a:xfrm>
          <a:prstGeom prst="roundRect">
            <a:avLst>
              <a:gd name="adj" fmla="val 3404"/>
            </a:avLst>
          </a:prstGeom>
          <a:solidFill>
            <a:srgbClr val="E3EDFB"/>
          </a:solidFill>
          <a:ln w="12700">
            <a:solidFill>
              <a:srgbClr val="E3EDFB"/>
            </a:solidFill>
            <a:prstDash val="solid"/>
          </a:ln>
        </p:spPr>
      </p:sp>
      <p:sp>
        <p:nvSpPr>
          <p:cNvPr id="15" name="Text 13"/>
          <p:cNvSpPr/>
          <p:nvPr/>
        </p:nvSpPr>
        <p:spPr>
          <a:xfrm>
            <a:off x="5431536" y="1755648"/>
            <a:ext cx="1874520" cy="320040"/>
          </a:xfrm>
          <a:prstGeom prst="rect">
            <a:avLst/>
          </a:prstGeom>
          <a:noFill/>
          <a:ln/>
        </p:spPr>
        <p:txBody>
          <a:bodyPr wrap="square" lIns="0" tIns="0" rIns="0" bIns="0" rtlCol="0" anchor="ctr"/>
          <a:lstStyle/>
          <a:p>
            <a:pPr indent="0" marL="0">
              <a:buNone/>
            </a:pPr>
            <a:r>
              <a:rPr lang="en-US" sz="1300" b="1" dirty="0">
                <a:solidFill>
                  <a:srgbClr val="1D4E89"/>
                </a:solidFill>
                <a:latin typeface="Courier New" pitchFamily="34" charset="0"/>
                <a:ea typeface="Courier New" pitchFamily="34" charset="-122"/>
                <a:cs typeface="Courier New" pitchFamily="34" charset="-120"/>
              </a:rPr>
              <a:t>sources/</a:t>
            </a:r>
            <a:endParaRPr lang="en-US" sz="1300" dirty="0"/>
          </a:p>
        </p:txBody>
      </p:sp>
      <p:sp>
        <p:nvSpPr>
          <p:cNvPr id="16" name="Text 14"/>
          <p:cNvSpPr/>
          <p:nvPr/>
        </p:nvSpPr>
        <p:spPr>
          <a:xfrm>
            <a:off x="5431536" y="2084832"/>
            <a:ext cx="1874520" cy="274320"/>
          </a:xfrm>
          <a:prstGeom prst="rect">
            <a:avLst/>
          </a:prstGeom>
          <a:noFill/>
          <a:ln/>
        </p:spPr>
        <p:txBody>
          <a:bodyPr wrap="square" lIns="0" tIns="0" rIns="0" bIns="0" rtlCol="0" anchor="ctr"/>
          <a:lstStyle/>
          <a:p>
            <a:pPr indent="0" marL="0">
              <a:buNone/>
            </a:pPr>
            <a:r>
              <a:rPr lang="en-US" sz="1100" b="1" dirty="0">
                <a:solidFill>
                  <a:srgbClr val="1D4E89"/>
                </a:solidFill>
                <a:latin typeface="Calibri" pitchFamily="34" charset="0"/>
                <a:ea typeface="Calibri" pitchFamily="34" charset="-122"/>
                <a:cs typeface="Calibri" pitchFamily="34" charset="-120"/>
              </a:rPr>
              <a:t>The truth (L1)</a:t>
            </a:r>
            <a:endParaRPr lang="en-US" sz="1100" dirty="0"/>
          </a:p>
        </p:txBody>
      </p:sp>
      <p:sp>
        <p:nvSpPr>
          <p:cNvPr id="17" name="Text 15"/>
          <p:cNvSpPr/>
          <p:nvPr/>
        </p:nvSpPr>
        <p:spPr>
          <a:xfrm>
            <a:off x="5431536" y="2395728"/>
            <a:ext cx="1874520" cy="1371600"/>
          </a:xfrm>
          <a:prstGeom prst="rect">
            <a:avLst/>
          </a:prstGeom>
          <a:noFill/>
          <a:ln/>
        </p:spPr>
        <p:txBody>
          <a:bodyPr wrap="square" lIns="0" tIns="0" rIns="0" bIns="0" rtlCol="0" anchor="ctr"/>
          <a:lstStyle/>
          <a:p>
            <a:pPr indent="0" marL="0">
              <a:buNone/>
            </a:pPr>
            <a:r>
              <a:rPr lang="en-US" sz="1050" dirty="0">
                <a:solidFill>
                  <a:srgbClr val="232838"/>
                </a:solidFill>
                <a:latin typeface="Calibri" pitchFamily="34" charset="0"/>
                <a:ea typeface="Calibri" pitchFamily="34" charset="-122"/>
                <a:cs typeface="Calibri" pitchFamily="34" charset="-120"/>
              </a:rPr>
              <a:t>Schema-validated YAML: every API, dependency, Kafka topic, datastore. The system of record.</a:t>
            </a:r>
            <a:endParaRPr lang="en-US" sz="1050" dirty="0"/>
          </a:p>
        </p:txBody>
      </p:sp>
      <p:sp>
        <p:nvSpPr>
          <p:cNvPr id="18" name="Shape 16"/>
          <p:cNvSpPr/>
          <p:nvPr/>
        </p:nvSpPr>
        <p:spPr>
          <a:xfrm>
            <a:off x="7452360" y="2578608"/>
            <a:ext cx="237744" cy="292608"/>
          </a:xfrm>
          <a:prstGeom prst="rightArrow">
            <a:avLst/>
          </a:prstGeom>
          <a:solidFill>
            <a:srgbClr val="5C6470"/>
          </a:solidFill>
          <a:ln/>
        </p:spPr>
      </p:sp>
      <p:sp>
        <p:nvSpPr>
          <p:cNvPr id="19" name="Shape 17"/>
          <p:cNvSpPr/>
          <p:nvPr/>
        </p:nvSpPr>
        <p:spPr>
          <a:xfrm>
            <a:off x="7690104" y="1600200"/>
            <a:ext cx="2148840" cy="2286000"/>
          </a:xfrm>
          <a:prstGeom prst="roundRect">
            <a:avLst>
              <a:gd name="adj" fmla="val 3404"/>
            </a:avLst>
          </a:prstGeom>
          <a:solidFill>
            <a:srgbClr val="FFE1CC"/>
          </a:solidFill>
          <a:ln w="12700">
            <a:solidFill>
              <a:srgbClr val="FFE1CC"/>
            </a:solidFill>
            <a:prstDash val="solid"/>
          </a:ln>
        </p:spPr>
      </p:sp>
      <p:sp>
        <p:nvSpPr>
          <p:cNvPr id="20" name="Text 18"/>
          <p:cNvSpPr/>
          <p:nvPr/>
        </p:nvSpPr>
        <p:spPr>
          <a:xfrm>
            <a:off x="7827264" y="1755648"/>
            <a:ext cx="1874520" cy="320040"/>
          </a:xfrm>
          <a:prstGeom prst="rect">
            <a:avLst/>
          </a:prstGeom>
          <a:noFill/>
          <a:ln/>
        </p:spPr>
        <p:txBody>
          <a:bodyPr wrap="square" lIns="0" tIns="0" rIns="0" bIns="0" rtlCol="0" anchor="ctr"/>
          <a:lstStyle/>
          <a:p>
            <a:pPr indent="0" marL="0">
              <a:buNone/>
            </a:pPr>
            <a:r>
              <a:rPr lang="en-US" sz="1300" b="1" dirty="0">
                <a:solidFill>
                  <a:srgbClr val="9A4A1E"/>
                </a:solidFill>
                <a:latin typeface="Courier New" pitchFamily="34" charset="0"/>
                <a:ea typeface="Courier New" pitchFamily="34" charset="-122"/>
                <a:cs typeface="Courier New" pitchFamily="34" charset="-120"/>
              </a:rPr>
              <a:t>markdown/</a:t>
            </a:r>
            <a:endParaRPr lang="en-US" sz="1300" dirty="0"/>
          </a:p>
        </p:txBody>
      </p:sp>
      <p:sp>
        <p:nvSpPr>
          <p:cNvPr id="21" name="Text 19"/>
          <p:cNvSpPr/>
          <p:nvPr/>
        </p:nvSpPr>
        <p:spPr>
          <a:xfrm>
            <a:off x="7827264" y="2084832"/>
            <a:ext cx="1874520" cy="274320"/>
          </a:xfrm>
          <a:prstGeom prst="rect">
            <a:avLst/>
          </a:prstGeom>
          <a:noFill/>
          <a:ln/>
        </p:spPr>
        <p:txBody>
          <a:bodyPr wrap="square" lIns="0" tIns="0" rIns="0" bIns="0" rtlCol="0" anchor="ctr"/>
          <a:lstStyle/>
          <a:p>
            <a:pPr indent="0" marL="0">
              <a:buNone/>
            </a:pPr>
            <a:r>
              <a:rPr lang="en-US" sz="1100" b="1" dirty="0">
                <a:solidFill>
                  <a:srgbClr val="9A4A1E"/>
                </a:solidFill>
                <a:latin typeface="Calibri" pitchFamily="34" charset="0"/>
                <a:ea typeface="Calibri" pitchFamily="34" charset="-122"/>
                <a:cs typeface="Calibri" pitchFamily="34" charset="-120"/>
              </a:rPr>
              <a:t>The bundle (L2)</a:t>
            </a:r>
            <a:endParaRPr lang="en-US" sz="1100" dirty="0"/>
          </a:p>
        </p:txBody>
      </p:sp>
      <p:sp>
        <p:nvSpPr>
          <p:cNvPr id="22" name="Text 20"/>
          <p:cNvSpPr/>
          <p:nvPr/>
        </p:nvSpPr>
        <p:spPr>
          <a:xfrm>
            <a:off x="7827264" y="2395728"/>
            <a:ext cx="1874520" cy="1371600"/>
          </a:xfrm>
          <a:prstGeom prst="rect">
            <a:avLst/>
          </a:prstGeom>
          <a:noFill/>
          <a:ln/>
        </p:spPr>
        <p:txBody>
          <a:bodyPr wrap="square" lIns="0" tIns="0" rIns="0" bIns="0" rtlCol="0" anchor="ctr"/>
          <a:lstStyle/>
          <a:p>
            <a:pPr indent="0" marL="0">
              <a:buNone/>
            </a:pPr>
            <a:r>
              <a:rPr lang="en-US" sz="1050" dirty="0">
                <a:solidFill>
                  <a:srgbClr val="232838"/>
                </a:solidFill>
                <a:latin typeface="Calibri" pitchFamily="34" charset="0"/>
                <a:ea typeface="Calibri" pitchFamily="34" charset="-122"/>
                <a:cs typeface="Calibri" pitchFamily="34" charset="-120"/>
              </a:rPr>
              <a:t>Deterministic Python renders cross-linked pages. Same input → byte-identical output. Never hand-edited.</a:t>
            </a:r>
            <a:endParaRPr lang="en-US" sz="1050" dirty="0"/>
          </a:p>
        </p:txBody>
      </p:sp>
      <p:sp>
        <p:nvSpPr>
          <p:cNvPr id="23" name="Shape 21"/>
          <p:cNvSpPr/>
          <p:nvPr/>
        </p:nvSpPr>
        <p:spPr>
          <a:xfrm>
            <a:off x="9848088" y="2578608"/>
            <a:ext cx="237744" cy="292608"/>
          </a:xfrm>
          <a:prstGeom prst="rightArrow">
            <a:avLst/>
          </a:prstGeom>
          <a:solidFill>
            <a:srgbClr val="5C6470"/>
          </a:solidFill>
          <a:ln/>
        </p:spPr>
      </p:sp>
      <p:sp>
        <p:nvSpPr>
          <p:cNvPr id="24" name="Shape 22"/>
          <p:cNvSpPr/>
          <p:nvPr/>
        </p:nvSpPr>
        <p:spPr>
          <a:xfrm>
            <a:off x="10085832" y="1600200"/>
            <a:ext cx="2148840" cy="2286000"/>
          </a:xfrm>
          <a:prstGeom prst="roundRect">
            <a:avLst>
              <a:gd name="adj" fmla="val 3404"/>
            </a:avLst>
          </a:prstGeom>
          <a:solidFill>
            <a:srgbClr val="E4F2E9"/>
          </a:solidFill>
          <a:ln w="12700">
            <a:solidFill>
              <a:srgbClr val="E4F2E9"/>
            </a:solidFill>
            <a:prstDash val="solid"/>
          </a:ln>
        </p:spPr>
      </p:sp>
      <p:sp>
        <p:nvSpPr>
          <p:cNvPr id="25" name="Text 23"/>
          <p:cNvSpPr/>
          <p:nvPr/>
        </p:nvSpPr>
        <p:spPr>
          <a:xfrm>
            <a:off x="10222992" y="1755648"/>
            <a:ext cx="1874520" cy="320040"/>
          </a:xfrm>
          <a:prstGeom prst="rect">
            <a:avLst/>
          </a:prstGeom>
          <a:noFill/>
          <a:ln/>
        </p:spPr>
        <p:txBody>
          <a:bodyPr wrap="square" lIns="0" tIns="0" rIns="0" bIns="0" rtlCol="0" anchor="ctr"/>
          <a:lstStyle/>
          <a:p>
            <a:pPr indent="0" marL="0">
              <a:buNone/>
            </a:pPr>
            <a:r>
              <a:rPr lang="en-US" sz="1300" b="1" dirty="0">
                <a:solidFill>
                  <a:srgbClr val="2C7A4B"/>
                </a:solidFill>
                <a:latin typeface="Courier New" pitchFamily="34" charset="0"/>
                <a:ea typeface="Courier New" pitchFamily="34" charset="-122"/>
                <a:cs typeface="Courier New" pitchFamily="34" charset="-120"/>
              </a:rPr>
              <a:t>consumers</a:t>
            </a:r>
            <a:endParaRPr lang="en-US" sz="1300" dirty="0"/>
          </a:p>
        </p:txBody>
      </p:sp>
      <p:sp>
        <p:nvSpPr>
          <p:cNvPr id="26" name="Text 24"/>
          <p:cNvSpPr/>
          <p:nvPr/>
        </p:nvSpPr>
        <p:spPr>
          <a:xfrm>
            <a:off x="10222992" y="2084832"/>
            <a:ext cx="1874520" cy="274320"/>
          </a:xfrm>
          <a:prstGeom prst="rect">
            <a:avLst/>
          </a:prstGeom>
          <a:noFill/>
          <a:ln/>
        </p:spPr>
        <p:txBody>
          <a:bodyPr wrap="square" lIns="0" tIns="0" rIns="0" bIns="0" rtlCol="0" anchor="ctr"/>
          <a:lstStyle/>
          <a:p>
            <a:pPr indent="0" marL="0">
              <a:buNone/>
            </a:pPr>
            <a:r>
              <a:rPr lang="en-US" sz="1100" b="1" dirty="0">
                <a:solidFill>
                  <a:srgbClr val="2C7A4B"/>
                </a:solidFill>
                <a:latin typeface="Calibri" pitchFamily="34" charset="0"/>
                <a:ea typeface="Calibri" pitchFamily="34" charset="-122"/>
                <a:cs typeface="Calibri" pitchFamily="34" charset="-120"/>
              </a:rPr>
              <a:t>Humans + agents</a:t>
            </a:r>
            <a:endParaRPr lang="en-US" sz="1100" dirty="0"/>
          </a:p>
        </p:txBody>
      </p:sp>
      <p:sp>
        <p:nvSpPr>
          <p:cNvPr id="27" name="Text 25"/>
          <p:cNvSpPr/>
          <p:nvPr/>
        </p:nvSpPr>
        <p:spPr>
          <a:xfrm>
            <a:off x="10222992" y="2395728"/>
            <a:ext cx="1874520" cy="1371600"/>
          </a:xfrm>
          <a:prstGeom prst="rect">
            <a:avLst/>
          </a:prstGeom>
          <a:noFill/>
          <a:ln/>
        </p:spPr>
        <p:txBody>
          <a:bodyPr wrap="square" lIns="0" tIns="0" rIns="0" bIns="0" rtlCol="0" anchor="ctr"/>
          <a:lstStyle/>
          <a:p>
            <a:pPr indent="0" marL="0">
              <a:buNone/>
            </a:pPr>
            <a:r>
              <a:rPr lang="en-US" sz="1050" dirty="0">
                <a:solidFill>
                  <a:srgbClr val="232838"/>
                </a:solidFill>
                <a:latin typeface="Calibri" pitchFamily="34" charset="0"/>
                <a:ea typeface="Calibri" pitchFamily="34" charset="-122"/>
                <a:cs typeface="Calibri" pitchFamily="34" charset="-120"/>
              </a:rPr>
              <a:t>Developers read pages; search works offline; AI agents query 9 MCP tools with structured answers.</a:t>
            </a:r>
            <a:endParaRPr lang="en-US" sz="1050" dirty="0"/>
          </a:p>
        </p:txBody>
      </p:sp>
      <p:sp>
        <p:nvSpPr>
          <p:cNvPr id="28" name="Shape 26"/>
          <p:cNvSpPr/>
          <p:nvPr/>
        </p:nvSpPr>
        <p:spPr>
          <a:xfrm>
            <a:off x="502920" y="4160520"/>
            <a:ext cx="3584448" cy="1920240"/>
          </a:xfrm>
          <a:prstGeom prst="roundRect">
            <a:avLst>
              <a:gd name="adj" fmla="val 3810"/>
            </a:avLst>
          </a:prstGeom>
          <a:solidFill>
            <a:srgbClr val="EEF4FB"/>
          </a:solidFill>
          <a:ln w="12700">
            <a:solidFill>
              <a:srgbClr val="CADCFC"/>
            </a:solidFill>
            <a:prstDash val="solid"/>
          </a:ln>
        </p:spPr>
      </p:sp>
      <p:sp>
        <p:nvSpPr>
          <p:cNvPr id="29" name="Text 27"/>
          <p:cNvSpPr/>
          <p:nvPr/>
        </p:nvSpPr>
        <p:spPr>
          <a:xfrm>
            <a:off x="704088" y="4315968"/>
            <a:ext cx="320040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The sync gate</a:t>
            </a:r>
            <a:endParaRPr lang="en-US" sz="1350" dirty="0"/>
          </a:p>
        </p:txBody>
      </p:sp>
      <p:sp>
        <p:nvSpPr>
          <p:cNvPr id="30" name="Text 28"/>
          <p:cNvSpPr/>
          <p:nvPr/>
        </p:nvSpPr>
        <p:spPr>
          <a:xfrm>
            <a:off x="704088" y="4663440"/>
            <a:ext cx="3200400" cy="1325880"/>
          </a:xfrm>
          <a:prstGeom prst="rect">
            <a:avLst/>
          </a:prstGeom>
          <a:noFill/>
          <a:ln/>
        </p:spPr>
        <p:txBody>
          <a:bodyPr wrap="square" lIns="0" tIns="0" rIns="0" bIns="0" rtlCol="0" anchor="ctr"/>
          <a:lstStyle/>
          <a:p>
            <a:pPr indent="0" marL="0">
              <a:buNone/>
            </a:pPr>
            <a:r>
              <a:rPr lang="en-US" sz="1150" dirty="0">
                <a:solidFill>
                  <a:srgbClr val="232838"/>
                </a:solidFill>
                <a:latin typeface="Calibri" pitchFamily="34" charset="0"/>
                <a:ea typeface="Calibri" pitchFamily="34" charset="-122"/>
                <a:cs typeface="Calibri" pitchFamily="34" charset="-120"/>
              </a:rPr>
              <a:t>CI regenerates everything and diffs it against what's committed. Any difference fails the build — a stale page is mechanically unable to reach main.</a:t>
            </a:r>
            <a:endParaRPr lang="en-US" sz="1150" dirty="0"/>
          </a:p>
        </p:txBody>
      </p:sp>
      <p:sp>
        <p:nvSpPr>
          <p:cNvPr id="31" name="Shape 29"/>
          <p:cNvSpPr/>
          <p:nvPr/>
        </p:nvSpPr>
        <p:spPr>
          <a:xfrm>
            <a:off x="4325112" y="4160520"/>
            <a:ext cx="3584448" cy="1920240"/>
          </a:xfrm>
          <a:prstGeom prst="roundRect">
            <a:avLst>
              <a:gd name="adj" fmla="val 3810"/>
            </a:avLst>
          </a:prstGeom>
          <a:solidFill>
            <a:srgbClr val="EEF4FB"/>
          </a:solidFill>
          <a:ln w="12700">
            <a:solidFill>
              <a:srgbClr val="CADCFC"/>
            </a:solidFill>
            <a:prstDash val="solid"/>
          </a:ln>
        </p:spPr>
      </p:sp>
      <p:sp>
        <p:nvSpPr>
          <p:cNvPr id="32" name="Text 30"/>
          <p:cNvSpPr/>
          <p:nvPr/>
        </p:nvSpPr>
        <p:spPr>
          <a:xfrm>
            <a:off x="4526280" y="4315968"/>
            <a:ext cx="320040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LLM only at the edge</a:t>
            </a:r>
            <a:endParaRPr lang="en-US" sz="1350" dirty="0"/>
          </a:p>
        </p:txBody>
      </p:sp>
      <p:sp>
        <p:nvSpPr>
          <p:cNvPr id="33" name="Text 31"/>
          <p:cNvSpPr/>
          <p:nvPr/>
        </p:nvSpPr>
        <p:spPr>
          <a:xfrm>
            <a:off x="4526280" y="4663440"/>
            <a:ext cx="3200400" cy="1325880"/>
          </a:xfrm>
          <a:prstGeom prst="rect">
            <a:avLst/>
          </a:prstGeom>
          <a:noFill/>
          <a:ln/>
        </p:spPr>
        <p:txBody>
          <a:bodyPr wrap="square" lIns="0" tIns="0" rIns="0" bIns="0" rtlCol="0" anchor="ctr"/>
          <a:lstStyle/>
          <a:p>
            <a:pPr indent="0" marL="0">
              <a:buNone/>
            </a:pPr>
            <a:r>
              <a:rPr lang="en-US" sz="1150" dirty="0">
                <a:solidFill>
                  <a:srgbClr val="232838"/>
                </a:solidFill>
                <a:latin typeface="Calibri" pitchFamily="34" charset="0"/>
                <a:ea typeface="Calibri" pitchFamily="34" charset="-122"/>
                <a:cs typeface="Calibri" pitchFamily="34" charset="-120"/>
              </a:rPr>
              <a:t>AI reads code once, at ingest. Validation, generation, audit, search — all deterministic Python. CI runs at $0 LLM cost.</a:t>
            </a:r>
            <a:endParaRPr lang="en-US" sz="1150" dirty="0"/>
          </a:p>
        </p:txBody>
      </p:sp>
      <p:sp>
        <p:nvSpPr>
          <p:cNvPr id="34" name="Shape 32"/>
          <p:cNvSpPr/>
          <p:nvPr/>
        </p:nvSpPr>
        <p:spPr>
          <a:xfrm>
            <a:off x="8147304" y="4160520"/>
            <a:ext cx="3584448" cy="1920240"/>
          </a:xfrm>
          <a:prstGeom prst="roundRect">
            <a:avLst>
              <a:gd name="adj" fmla="val 3810"/>
            </a:avLst>
          </a:prstGeom>
          <a:solidFill>
            <a:srgbClr val="EEF4FB"/>
          </a:solidFill>
          <a:ln w="12700">
            <a:solidFill>
              <a:srgbClr val="CADCFC"/>
            </a:solidFill>
            <a:prstDash val="solid"/>
          </a:ln>
        </p:spPr>
      </p:sp>
      <p:sp>
        <p:nvSpPr>
          <p:cNvPr id="35" name="Text 33"/>
          <p:cNvSpPr/>
          <p:nvPr/>
        </p:nvSpPr>
        <p:spPr>
          <a:xfrm>
            <a:off x="8348472" y="4315968"/>
            <a:ext cx="320040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Trust labels that mean something</a:t>
            </a:r>
            <a:endParaRPr lang="en-US" sz="1350" dirty="0"/>
          </a:p>
        </p:txBody>
      </p:sp>
      <p:sp>
        <p:nvSpPr>
          <p:cNvPr id="36" name="Text 34"/>
          <p:cNvSpPr/>
          <p:nvPr/>
        </p:nvSpPr>
        <p:spPr>
          <a:xfrm>
            <a:off x="8348472" y="4663440"/>
            <a:ext cx="3200400" cy="1325880"/>
          </a:xfrm>
          <a:prstGeom prst="rect">
            <a:avLst/>
          </a:prstGeom>
          <a:noFill/>
          <a:ln/>
        </p:spPr>
        <p:txBody>
          <a:bodyPr wrap="square" lIns="0" tIns="0" rIns="0" bIns="0" rtlCol="0" anchor="ctr"/>
          <a:lstStyle/>
          <a:p>
            <a:pPr indent="0" marL="0">
              <a:buNone/>
            </a:pPr>
            <a:r>
              <a:rPr lang="en-US" sz="1150" dirty="0">
                <a:solidFill>
                  <a:srgbClr val="232838"/>
                </a:solidFill>
                <a:latin typeface="Calibri" pitchFamily="34" charset="0"/>
                <a:ea typeface="Calibri" pitchFamily="34" charset="-122"/>
                <a:cs typeface="Calibri" pitchFamily="34" charset="-120"/>
              </a:rPr>
              <a:t>Every page is stamped: authoritative (from code), curated (human-reviewed), or inferred (AI guess — flagged downstream, never wins arguments).</a:t>
            </a:r>
            <a:endParaRPr lang="en-US" sz="1150" dirty="0"/>
          </a:p>
        </p:txBody>
      </p:sp>
      <p:sp>
        <p:nvSpPr>
          <p:cNvPr id="37" name="Text 35"/>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5C6470"/>
                </a:solidFill>
                <a:latin typeface="Calibri" pitchFamily="34" charset="0"/>
                <a:ea typeface="Calibri" pitchFamily="34" charset="-122"/>
                <a:cs typeface="Calibri" pitchFamily="34" charset="-120"/>
              </a:rPr>
              <a:t>Commerce Knowledge Base — Architecture Briefing</a:t>
            </a:r>
            <a:endParaRPr lang="en-US" sz="900" dirty="0"/>
          </a:p>
        </p:txBody>
      </p:sp>
      <p:sp>
        <p:nvSpPr>
          <p:cNvPr id="38" name="Text 36"/>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5C64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200" kern="0" dirty="0">
                <a:solidFill>
                  <a:srgbClr val="8A5F00"/>
                </a:solidFill>
                <a:latin typeface="Calibri" pitchFamily="34" charset="0"/>
                <a:ea typeface="Calibri" pitchFamily="34" charset="-122"/>
                <a:cs typeface="Calibri" pitchFamily="34" charset="-120"/>
              </a:rPr>
              <a:t>WHY THIS WAY — PART 1</a:t>
            </a:r>
            <a:endParaRPr lang="en-US" sz="1100" dirty="0"/>
          </a:p>
        </p:txBody>
      </p:sp>
      <p:sp>
        <p:nvSpPr>
          <p:cNvPr id="3" name="Text 1"/>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Why markdown files, not a wiki or a database?</a:t>
            </a:r>
            <a:endParaRPr lang="en-US" sz="3000" dirty="0"/>
          </a:p>
        </p:txBody>
      </p:sp>
      <p:sp>
        <p:nvSpPr>
          <p:cNvPr id="4" name="Shape 2"/>
          <p:cNvSpPr/>
          <p:nvPr/>
        </p:nvSpPr>
        <p:spPr>
          <a:xfrm>
            <a:off x="502920" y="1463040"/>
            <a:ext cx="4297680" cy="4663440"/>
          </a:xfrm>
          <a:prstGeom prst="roundRect">
            <a:avLst>
              <a:gd name="adj" fmla="val 1702"/>
            </a:avLst>
          </a:prstGeom>
          <a:solidFill>
            <a:srgbClr val="1E2761"/>
          </a:solidFill>
          <a:ln w="12700">
            <a:solidFill>
              <a:srgbClr val="1E2761"/>
            </a:solidFill>
            <a:prstDash val="solid"/>
          </a:ln>
        </p:spPr>
      </p:sp>
      <p:sp>
        <p:nvSpPr>
          <p:cNvPr id="5" name="Text 3"/>
          <p:cNvSpPr/>
          <p:nvPr/>
        </p:nvSpPr>
        <p:spPr>
          <a:xfrm>
            <a:off x="777240" y="1783080"/>
            <a:ext cx="3749040" cy="73152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The serving format is the strategy.</a:t>
            </a:r>
            <a:endParaRPr lang="en-US" sz="2100" dirty="0"/>
          </a:p>
        </p:txBody>
      </p:sp>
      <p:sp>
        <p:nvSpPr>
          <p:cNvPr id="6" name="Text 4"/>
          <p:cNvSpPr/>
          <p:nvPr/>
        </p:nvSpPr>
        <p:spPr>
          <a:xfrm>
            <a:off x="777240" y="2606040"/>
            <a:ext cx="3749040" cy="10058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Markdown + metadata is the one format that humans, git, and AI agents all read natively — no viewer, no license, no lock-in.</a:t>
            </a:r>
            <a:endParaRPr lang="en-US" sz="1300" dirty="0"/>
          </a:p>
        </p:txBody>
      </p:sp>
      <p:sp>
        <p:nvSpPr>
          <p:cNvPr id="7" name="Text 5"/>
          <p:cNvSpPr/>
          <p:nvPr/>
        </p:nvSpPr>
        <p:spPr>
          <a:xfrm>
            <a:off x="777240" y="3749040"/>
            <a:ext cx="3749040" cy="777240"/>
          </a:xfrm>
          <a:prstGeom prst="rect">
            <a:avLst/>
          </a:prstGeom>
          <a:noFill/>
          <a:ln/>
        </p:spPr>
        <p:txBody>
          <a:bodyPr wrap="square" lIns="0" tIns="0" rIns="0" bIns="0" rtlCol="0" anchor="ctr"/>
          <a:lstStyle/>
          <a:p>
            <a:pPr indent="0" marL="0">
              <a:buNone/>
            </a:pPr>
            <a:r>
              <a:rPr lang="en-US" sz="4800" b="1" dirty="0">
                <a:solidFill>
                  <a:srgbClr val="F0A500"/>
                </a:solidFill>
                <a:latin typeface="Cambria" pitchFamily="34" charset="0"/>
                <a:ea typeface="Cambria" pitchFamily="34" charset="-122"/>
                <a:cs typeface="Cambria" pitchFamily="34" charset="-120"/>
              </a:rPr>
              <a:t>~10×</a:t>
            </a:r>
            <a:endParaRPr lang="en-US" sz="4800" dirty="0"/>
          </a:p>
        </p:txBody>
      </p:sp>
      <p:sp>
        <p:nvSpPr>
          <p:cNvPr id="8" name="Text 6"/>
          <p:cNvSpPr/>
          <p:nvPr/>
        </p:nvSpPr>
        <p:spPr>
          <a:xfrm>
            <a:off x="777240" y="4526280"/>
            <a:ext cx="3749040" cy="137160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cheaper in AI tokens than serving HTML or wiki markup — the reason Cloudflare, Stripe, and Anthropic serve docs to AI this way (the “llms.txt” movement).</a:t>
            </a:r>
            <a:endParaRPr lang="en-US" sz="1200" dirty="0"/>
          </a:p>
        </p:txBody>
      </p:sp>
      <p:sp>
        <p:nvSpPr>
          <p:cNvPr id="9" name="Shape 7"/>
          <p:cNvSpPr/>
          <p:nvPr/>
        </p:nvSpPr>
        <p:spPr>
          <a:xfrm>
            <a:off x="5029200" y="1463040"/>
            <a:ext cx="6629400" cy="1042416"/>
          </a:xfrm>
          <a:prstGeom prst="roundRect">
            <a:avLst>
              <a:gd name="adj" fmla="val 7018"/>
            </a:avLst>
          </a:prstGeom>
          <a:solidFill>
            <a:srgbClr val="EEF4FB"/>
          </a:solidFill>
          <a:ln w="12700">
            <a:solidFill>
              <a:srgbClr val="EEF4FB"/>
            </a:solidFill>
            <a:prstDash val="solid"/>
          </a:ln>
        </p:spPr>
      </p:sp>
      <p:sp>
        <p:nvSpPr>
          <p:cNvPr id="10" name="Text 8"/>
          <p:cNvSpPr/>
          <p:nvPr/>
        </p:nvSpPr>
        <p:spPr>
          <a:xfrm>
            <a:off x="5285232" y="1554480"/>
            <a:ext cx="612648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Git-grade governance</a:t>
            </a:r>
            <a:endParaRPr lang="en-US" sz="1350" dirty="0"/>
          </a:p>
        </p:txBody>
      </p:sp>
      <p:sp>
        <p:nvSpPr>
          <p:cNvPr id="11" name="Text 9"/>
          <p:cNvSpPr/>
          <p:nvPr/>
        </p:nvSpPr>
        <p:spPr>
          <a:xfrm>
            <a:off x="5285232" y="1883664"/>
            <a:ext cx="6126480" cy="566928"/>
          </a:xfrm>
          <a:prstGeom prst="rect">
            <a:avLst/>
          </a:prstGeom>
          <a:noFill/>
          <a:ln/>
        </p:spPr>
        <p:txBody>
          <a:bodyPr wrap="square" lIns="0" tIns="0" rIns="0" bIns="0" rtlCol="0" anchor="ctr"/>
          <a:lstStyle/>
          <a:p>
            <a:pPr indent="0" marL="0">
              <a:buNone/>
            </a:pPr>
            <a:r>
              <a:rPr lang="en-US" sz="1150" dirty="0">
                <a:solidFill>
                  <a:srgbClr val="232838"/>
                </a:solidFill>
                <a:latin typeface="Calibri" pitchFamily="34" charset="0"/>
                <a:ea typeface="Calibri" pitchFamily="34" charset="-122"/>
                <a:cs typeface="Calibri" pitchFamily="34" charset="-120"/>
              </a:rPr>
              <a:t>PR review, diff, blame, CODEOWNERS — knowledge changes are reviewed exactly like code changes.</a:t>
            </a:r>
            <a:endParaRPr lang="en-US" sz="1150" dirty="0"/>
          </a:p>
        </p:txBody>
      </p:sp>
      <p:sp>
        <p:nvSpPr>
          <p:cNvPr id="12" name="Shape 10"/>
          <p:cNvSpPr/>
          <p:nvPr/>
        </p:nvSpPr>
        <p:spPr>
          <a:xfrm>
            <a:off x="5029200" y="2651760"/>
            <a:ext cx="6629400" cy="1042416"/>
          </a:xfrm>
          <a:prstGeom prst="roundRect">
            <a:avLst>
              <a:gd name="adj" fmla="val 7018"/>
            </a:avLst>
          </a:prstGeom>
          <a:solidFill>
            <a:srgbClr val="EEF4FB"/>
          </a:solidFill>
          <a:ln w="12700">
            <a:solidFill>
              <a:srgbClr val="EEF4FB"/>
            </a:solidFill>
            <a:prstDash val="solid"/>
          </a:ln>
        </p:spPr>
      </p:sp>
      <p:sp>
        <p:nvSpPr>
          <p:cNvPr id="13" name="Text 11"/>
          <p:cNvSpPr/>
          <p:nvPr/>
        </p:nvSpPr>
        <p:spPr>
          <a:xfrm>
            <a:off x="5285232" y="2743200"/>
            <a:ext cx="612648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A published standard, not our invention</a:t>
            </a:r>
            <a:endParaRPr lang="en-US" sz="1350" dirty="0"/>
          </a:p>
        </p:txBody>
      </p:sp>
      <p:sp>
        <p:nvSpPr>
          <p:cNvPr id="14" name="Text 12"/>
          <p:cNvSpPr/>
          <p:nvPr/>
        </p:nvSpPr>
        <p:spPr>
          <a:xfrm>
            <a:off x="5285232" y="3072384"/>
            <a:ext cx="6126480" cy="566928"/>
          </a:xfrm>
          <a:prstGeom prst="rect">
            <a:avLst/>
          </a:prstGeom>
          <a:noFill/>
          <a:ln/>
        </p:spPr>
        <p:txBody>
          <a:bodyPr wrap="square" lIns="0" tIns="0" rIns="0" bIns="0" rtlCol="0" anchor="ctr"/>
          <a:lstStyle/>
          <a:p>
            <a:pPr indent="0" marL="0">
              <a:buNone/>
            </a:pPr>
            <a:r>
              <a:rPr lang="en-US" sz="1150" dirty="0">
                <a:solidFill>
                  <a:srgbClr val="232838"/>
                </a:solidFill>
                <a:latin typeface="Calibri" pitchFamily="34" charset="0"/>
                <a:ea typeface="Calibri" pitchFamily="34" charset="-122"/>
                <a:cs typeface="Calibri" pitchFamily="34" charset="-120"/>
              </a:rPr>
              <a:t>The bundle conforms to Google Cloud's Open Knowledge Format (OKF v0.2) — structure enforced by 12 automated checks in CI.</a:t>
            </a:r>
            <a:endParaRPr lang="en-US" sz="1150" dirty="0"/>
          </a:p>
        </p:txBody>
      </p:sp>
      <p:sp>
        <p:nvSpPr>
          <p:cNvPr id="15" name="Shape 13"/>
          <p:cNvSpPr/>
          <p:nvPr/>
        </p:nvSpPr>
        <p:spPr>
          <a:xfrm>
            <a:off x="5029200" y="3840480"/>
            <a:ext cx="6629400" cy="1042416"/>
          </a:xfrm>
          <a:prstGeom prst="roundRect">
            <a:avLst>
              <a:gd name="adj" fmla="val 7018"/>
            </a:avLst>
          </a:prstGeom>
          <a:solidFill>
            <a:srgbClr val="EEF4FB"/>
          </a:solidFill>
          <a:ln w="12700">
            <a:solidFill>
              <a:srgbClr val="EEF4FB"/>
            </a:solidFill>
            <a:prstDash val="solid"/>
          </a:ln>
        </p:spPr>
      </p:sp>
      <p:sp>
        <p:nvSpPr>
          <p:cNvPr id="16" name="Text 14"/>
          <p:cNvSpPr/>
          <p:nvPr/>
        </p:nvSpPr>
        <p:spPr>
          <a:xfrm>
            <a:off x="5285232" y="3931920"/>
            <a:ext cx="612648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Every fact has a stable address</a:t>
            </a:r>
            <a:endParaRPr lang="en-US" sz="1350" dirty="0"/>
          </a:p>
        </p:txBody>
      </p:sp>
      <p:sp>
        <p:nvSpPr>
          <p:cNvPr id="17" name="Text 15"/>
          <p:cNvSpPr/>
          <p:nvPr/>
        </p:nvSpPr>
        <p:spPr>
          <a:xfrm>
            <a:off x="5285232" y="4261104"/>
            <a:ext cx="6126480" cy="566928"/>
          </a:xfrm>
          <a:prstGeom prst="rect">
            <a:avLst/>
          </a:prstGeom>
          <a:noFill/>
          <a:ln/>
        </p:spPr>
        <p:txBody>
          <a:bodyPr wrap="square" lIns="0" tIns="0" rIns="0" bIns="0" rtlCol="0" anchor="ctr"/>
          <a:lstStyle/>
          <a:p>
            <a:pPr indent="0" marL="0">
              <a:buNone/>
            </a:pPr>
            <a:r>
              <a:rPr lang="en-US" sz="1150" dirty="0">
                <a:solidFill>
                  <a:srgbClr val="232838"/>
                </a:solidFill>
                <a:latin typeface="Calibri" pitchFamily="34" charset="0"/>
                <a:ea typeface="Calibri" pitchFamily="34" charset="-122"/>
                <a:cs typeface="Calibri" pitchFamily="34" charset="-120"/>
              </a:rPr>
              <a:t>kb://commerce/shoppingcartms/service — testable, linkable across domains, updatable in place. You can't verify what you can't name.</a:t>
            </a:r>
            <a:endParaRPr lang="en-US" sz="1150" dirty="0"/>
          </a:p>
        </p:txBody>
      </p:sp>
      <p:sp>
        <p:nvSpPr>
          <p:cNvPr id="18" name="Shape 16"/>
          <p:cNvSpPr/>
          <p:nvPr/>
        </p:nvSpPr>
        <p:spPr>
          <a:xfrm>
            <a:off x="5029200" y="5029200"/>
            <a:ext cx="6629400" cy="1042416"/>
          </a:xfrm>
          <a:prstGeom prst="roundRect">
            <a:avLst>
              <a:gd name="adj" fmla="val 7018"/>
            </a:avLst>
          </a:prstGeom>
          <a:solidFill>
            <a:srgbClr val="EEF4FB"/>
          </a:solidFill>
          <a:ln w="12700">
            <a:solidFill>
              <a:srgbClr val="EEF4FB"/>
            </a:solidFill>
            <a:prstDash val="solid"/>
          </a:ln>
        </p:spPr>
      </p:sp>
      <p:sp>
        <p:nvSpPr>
          <p:cNvPr id="19" name="Text 17"/>
          <p:cNvSpPr/>
          <p:nvPr/>
        </p:nvSpPr>
        <p:spPr>
          <a:xfrm>
            <a:off x="5285232" y="5120640"/>
            <a:ext cx="612648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Confluence demoted, not deleted</a:t>
            </a:r>
            <a:endParaRPr lang="en-US" sz="1350" dirty="0"/>
          </a:p>
        </p:txBody>
      </p:sp>
      <p:sp>
        <p:nvSpPr>
          <p:cNvPr id="20" name="Text 18"/>
          <p:cNvSpPr/>
          <p:nvPr/>
        </p:nvSpPr>
        <p:spPr>
          <a:xfrm>
            <a:off x="5285232" y="5449824"/>
            <a:ext cx="6126480" cy="566928"/>
          </a:xfrm>
          <a:prstGeom prst="rect">
            <a:avLst/>
          </a:prstGeom>
          <a:noFill/>
          <a:ln/>
        </p:spPr>
        <p:txBody>
          <a:bodyPr wrap="square" lIns="0" tIns="0" rIns="0" bIns="0" rtlCol="0" anchor="ctr"/>
          <a:lstStyle/>
          <a:p>
            <a:pPr indent="0" marL="0">
              <a:buNone/>
            </a:pPr>
            <a:r>
              <a:rPr lang="en-US" sz="1150" dirty="0">
                <a:solidFill>
                  <a:srgbClr val="232838"/>
                </a:solidFill>
                <a:latin typeface="Calibri" pitchFamily="34" charset="0"/>
                <a:ea typeface="Calibri" pitchFamily="34" charset="-122"/>
                <a:cs typeface="Calibri" pitchFamily="34" charset="-120"/>
              </a:rPr>
              <a:t>Wiki pages become an ingested input; the KB is the verified serving layer. Nothing asks teams to stop writing.</a:t>
            </a:r>
            <a:endParaRPr lang="en-US" sz="1150" dirty="0"/>
          </a:p>
        </p:txBody>
      </p:sp>
      <p:sp>
        <p:nvSpPr>
          <p:cNvPr id="21" name="Text 19"/>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5C6470"/>
                </a:solidFill>
                <a:latin typeface="Calibri" pitchFamily="34" charset="0"/>
                <a:ea typeface="Calibri" pitchFamily="34" charset="-122"/>
                <a:cs typeface="Calibri" pitchFamily="34" charset="-120"/>
              </a:rPr>
              <a:t>Commerce Knowledge Base — Architecture Briefing</a:t>
            </a:r>
            <a:endParaRPr lang="en-US" sz="900" dirty="0"/>
          </a:p>
        </p:txBody>
      </p:sp>
      <p:sp>
        <p:nvSpPr>
          <p:cNvPr id="22" name="Text 20"/>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5C64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200" kern="0" dirty="0">
                <a:solidFill>
                  <a:srgbClr val="8A5F00"/>
                </a:solidFill>
                <a:latin typeface="Calibri" pitchFamily="34" charset="0"/>
                <a:ea typeface="Calibri" pitchFamily="34" charset="-122"/>
                <a:cs typeface="Calibri" pitchFamily="34" charset="-120"/>
              </a:rPr>
              <a:t>WHY THIS WAY — PART 2</a:t>
            </a:r>
            <a:endParaRPr lang="en-US" sz="1100" dirty="0"/>
          </a:p>
        </p:txBody>
      </p:sp>
      <p:sp>
        <p:nvSpPr>
          <p:cNvPr id="3" name="Text 1"/>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Why RAG — and why exact answers come first</a:t>
            </a:r>
            <a:endParaRPr lang="en-US" sz="3000" dirty="0"/>
          </a:p>
        </p:txBody>
      </p:sp>
      <p:sp>
        <p:nvSpPr>
          <p:cNvPr id="4" name="Text 2"/>
          <p:cNvSpPr/>
          <p:nvPr/>
        </p:nvSpPr>
        <p:spPr>
          <a:xfrm>
            <a:off x="502920" y="1325880"/>
            <a:ext cx="11155680" cy="502920"/>
          </a:xfrm>
          <a:prstGeom prst="rect">
            <a:avLst/>
          </a:prstGeom>
          <a:noFill/>
          <a:ln/>
        </p:spPr>
        <p:txBody>
          <a:bodyPr wrap="square" lIns="0" tIns="0" rIns="0" bIns="0" rtlCol="0" anchor="ctr"/>
          <a:lstStyle/>
          <a:p>
            <a:pPr indent="0" marL="0">
              <a:buNone/>
            </a:pPr>
            <a:r>
              <a:rPr lang="en-US" sz="1350" i="1" dirty="0">
                <a:solidFill>
                  <a:srgbClr val="5C6470"/>
                </a:solidFill>
                <a:latin typeface="Calibri" pitchFamily="34" charset="0"/>
                <a:ea typeface="Calibri" pitchFamily="34" charset="-122"/>
                <a:cs typeface="Calibri" pitchFamily="34" charset="-120"/>
              </a:rPr>
              <a:t>Retrieval-Augmented Generation = the agent looks facts up instead of guessing from memory. But not every question deserves a search engine:</a:t>
            </a:r>
            <a:endParaRPr lang="en-US" sz="1350" dirty="0"/>
          </a:p>
        </p:txBody>
      </p:sp>
      <p:sp>
        <p:nvSpPr>
          <p:cNvPr id="5" name="Shape 3"/>
          <p:cNvSpPr/>
          <p:nvPr/>
        </p:nvSpPr>
        <p:spPr>
          <a:xfrm>
            <a:off x="502920" y="1965960"/>
            <a:ext cx="5486400" cy="1920240"/>
          </a:xfrm>
          <a:prstGeom prst="roundRect">
            <a:avLst>
              <a:gd name="adj" fmla="val 3810"/>
            </a:avLst>
          </a:prstGeom>
          <a:solidFill>
            <a:srgbClr val="E4F2E9"/>
          </a:solidFill>
          <a:ln w="12700">
            <a:solidFill>
              <a:srgbClr val="2C7A4B"/>
            </a:solidFill>
            <a:prstDash val="solid"/>
          </a:ln>
        </p:spPr>
      </p:sp>
      <p:sp>
        <p:nvSpPr>
          <p:cNvPr id="6" name="Text 4"/>
          <p:cNvSpPr/>
          <p:nvPr/>
        </p:nvSpPr>
        <p:spPr>
          <a:xfrm>
            <a:off x="777240" y="2121408"/>
            <a:ext cx="4937760" cy="365760"/>
          </a:xfrm>
          <a:prstGeom prst="rect">
            <a:avLst/>
          </a:prstGeom>
          <a:noFill/>
          <a:ln/>
        </p:spPr>
        <p:txBody>
          <a:bodyPr wrap="square" lIns="0" tIns="0" rIns="0" bIns="0" rtlCol="0" anchor="ctr"/>
          <a:lstStyle/>
          <a:p>
            <a:pPr indent="0" marL="0">
              <a:buNone/>
            </a:pPr>
            <a:r>
              <a:rPr lang="en-US" sz="1500" b="1" dirty="0">
                <a:solidFill>
                  <a:srgbClr val="2C7A4B"/>
                </a:solidFill>
                <a:latin typeface="Calibri" pitchFamily="34" charset="0"/>
                <a:ea typeface="Calibri" pitchFamily="34" charset="-122"/>
                <a:cs typeface="Calibri" pitchFamily="34" charset="-120"/>
              </a:rPr>
              <a:t>Exact questions → exact answers</a:t>
            </a:r>
            <a:endParaRPr lang="en-US" sz="1500" dirty="0"/>
          </a:p>
        </p:txBody>
      </p:sp>
      <p:sp>
        <p:nvSpPr>
          <p:cNvPr id="7" name="Text 5"/>
          <p:cNvSpPr/>
          <p:nvPr/>
        </p:nvSpPr>
        <p:spPr>
          <a:xfrm>
            <a:off x="777240" y="2514600"/>
            <a:ext cx="4937760" cy="1280160"/>
          </a:xfrm>
          <a:prstGeom prst="rect">
            <a:avLst/>
          </a:prstGeom>
          <a:noFill/>
          <a:ln/>
        </p:spPr>
        <p:txBody>
          <a:bodyPr wrap="square" lIns="0" tIns="0" rIns="0" bIns="0" rtlCol="0" anchor="ctr"/>
          <a:lstStyle/>
          <a:p>
            <a:pPr indent="0" marL="0">
              <a:buNone/>
            </a:pPr>
            <a:r>
              <a:rPr lang="en-US" sz="1200" dirty="0">
                <a:solidFill>
                  <a:srgbClr val="232838"/>
                </a:solidFill>
                <a:latin typeface="Calibri" pitchFamily="34" charset="0"/>
                <a:ea typeface="Calibri" pitchFamily="34" charset="-122"/>
                <a:cs typeface="Calibri" pitchFamily="34" charset="-120"/>
              </a:rPr>
              <a:t>“List the APIs of shoppingcartms” is not a search — it has one complete answer in a structured catalog. A deterministic router (no AI, &gt;95% accurate) answers these instantly and reproducibly.</a:t>
            </a:r>
            <a:endParaRPr lang="en-US" sz="1200" dirty="0"/>
          </a:p>
        </p:txBody>
      </p:sp>
      <p:sp>
        <p:nvSpPr>
          <p:cNvPr id="8" name="Shape 6"/>
          <p:cNvSpPr/>
          <p:nvPr/>
        </p:nvSpPr>
        <p:spPr>
          <a:xfrm>
            <a:off x="6172200" y="1965960"/>
            <a:ext cx="5486400" cy="1920240"/>
          </a:xfrm>
          <a:prstGeom prst="roundRect">
            <a:avLst>
              <a:gd name="adj" fmla="val 3810"/>
            </a:avLst>
          </a:prstGeom>
          <a:solidFill>
            <a:srgbClr val="E3EDFB"/>
          </a:solidFill>
          <a:ln w="12700">
            <a:solidFill>
              <a:srgbClr val="1D4E89"/>
            </a:solidFill>
            <a:prstDash val="solid"/>
          </a:ln>
        </p:spPr>
      </p:sp>
      <p:sp>
        <p:nvSpPr>
          <p:cNvPr id="9" name="Text 7"/>
          <p:cNvSpPr/>
          <p:nvPr/>
        </p:nvSpPr>
        <p:spPr>
          <a:xfrm>
            <a:off x="6446520" y="2121408"/>
            <a:ext cx="4937760" cy="365760"/>
          </a:xfrm>
          <a:prstGeom prst="rect">
            <a:avLst/>
          </a:prstGeom>
          <a:noFill/>
          <a:ln/>
        </p:spPr>
        <p:txBody>
          <a:bodyPr wrap="square" lIns="0" tIns="0" rIns="0" bIns="0" rtlCol="0" anchor="ctr"/>
          <a:lstStyle/>
          <a:p>
            <a:pPr indent="0" marL="0">
              <a:buNone/>
            </a:pPr>
            <a:r>
              <a:rPr lang="en-US" sz="1500" b="1" dirty="0">
                <a:solidFill>
                  <a:srgbClr val="1D4E89"/>
                </a:solidFill>
                <a:latin typeface="Calibri" pitchFamily="34" charset="0"/>
                <a:ea typeface="Calibri" pitchFamily="34" charset="-122"/>
                <a:cs typeface="Calibri" pitchFamily="34" charset="-120"/>
              </a:rPr>
              <a:t>Open questions → measured search</a:t>
            </a:r>
            <a:endParaRPr lang="en-US" sz="1500" dirty="0"/>
          </a:p>
        </p:txBody>
      </p:sp>
      <p:sp>
        <p:nvSpPr>
          <p:cNvPr id="10" name="Text 8"/>
          <p:cNvSpPr/>
          <p:nvPr/>
        </p:nvSpPr>
        <p:spPr>
          <a:xfrm>
            <a:off x="6446520" y="2514600"/>
            <a:ext cx="4937760" cy="1280160"/>
          </a:xfrm>
          <a:prstGeom prst="rect">
            <a:avLst/>
          </a:prstGeom>
          <a:noFill/>
          <a:ln/>
        </p:spPr>
        <p:txBody>
          <a:bodyPr wrap="square" lIns="0" tIns="0" rIns="0" bIns="0" rtlCol="0" anchor="ctr"/>
          <a:lstStyle/>
          <a:p>
            <a:pPr indent="0" marL="0">
              <a:buNone/>
            </a:pPr>
            <a:r>
              <a:rPr lang="en-US" sz="1200" dirty="0">
                <a:solidFill>
                  <a:srgbClr val="232838"/>
                </a:solidFill>
                <a:latin typeface="Calibri" pitchFamily="34" charset="0"/>
                <a:ea typeface="Calibri" pitchFamily="34" charset="-122"/>
                <a:cs typeface="Calibri" pitchFamily="34" charset="-120"/>
              </a:rPr>
              <a:t>“How does payment processing work?” searches 1,291 self-contained, addressed chunks. Hybrid ranking: keyword search (BM25) plus an optional semantic tier — merged, reranked, cited.</a:t>
            </a:r>
            <a:endParaRPr lang="en-US" sz="1200" dirty="0"/>
          </a:p>
        </p:txBody>
      </p:sp>
      <p:sp>
        <p:nvSpPr>
          <p:cNvPr id="11" name="Shape 9"/>
          <p:cNvSpPr/>
          <p:nvPr/>
        </p:nvSpPr>
        <p:spPr>
          <a:xfrm>
            <a:off x="502920" y="4160520"/>
            <a:ext cx="2615184" cy="1371600"/>
          </a:xfrm>
          <a:prstGeom prst="roundRect">
            <a:avLst>
              <a:gd name="adj" fmla="val 5333"/>
            </a:avLst>
          </a:prstGeom>
          <a:solidFill>
            <a:srgbClr val="EEF4FB"/>
          </a:solidFill>
          <a:ln w="12700">
            <a:solidFill>
              <a:srgbClr val="EEF4FB"/>
            </a:solidFill>
            <a:prstDash val="solid"/>
          </a:ln>
        </p:spPr>
      </p:sp>
      <p:sp>
        <p:nvSpPr>
          <p:cNvPr id="12" name="Text 10"/>
          <p:cNvSpPr/>
          <p:nvPr/>
        </p:nvSpPr>
        <p:spPr>
          <a:xfrm>
            <a:off x="667512" y="4279392"/>
            <a:ext cx="2286000" cy="457200"/>
          </a:xfrm>
          <a:prstGeom prst="rect">
            <a:avLst/>
          </a:prstGeom>
          <a:noFill/>
          <a:ln/>
        </p:spPr>
        <p:txBody>
          <a:bodyPr wrap="square" lIns="0" tIns="0" rIns="0" bIns="0" rtlCol="0" anchor="ctr"/>
          <a:lstStyle/>
          <a:p>
            <a:pPr indent="0" marL="0">
              <a:buNone/>
            </a:pPr>
            <a:r>
              <a:rPr lang="en-US" sz="2300" b="1" dirty="0">
                <a:solidFill>
                  <a:srgbClr val="1E2761"/>
                </a:solidFill>
                <a:latin typeface="Cambria" pitchFamily="34" charset="0"/>
                <a:ea typeface="Cambria" pitchFamily="34" charset="-122"/>
                <a:cs typeface="Cambria" pitchFamily="34" charset="-120"/>
              </a:rPr>
              <a:t>0.982</a:t>
            </a:r>
            <a:endParaRPr lang="en-US" sz="2300" dirty="0"/>
          </a:p>
        </p:txBody>
      </p:sp>
      <p:sp>
        <p:nvSpPr>
          <p:cNvPr id="13" name="Text 11"/>
          <p:cNvSpPr/>
          <p:nvPr/>
        </p:nvSpPr>
        <p:spPr>
          <a:xfrm>
            <a:off x="667512" y="4754880"/>
            <a:ext cx="2377440" cy="685800"/>
          </a:xfrm>
          <a:prstGeom prst="rect">
            <a:avLst/>
          </a:prstGeom>
          <a:noFill/>
          <a:ln/>
        </p:spPr>
        <p:txBody>
          <a:bodyPr wrap="square" lIns="0" tIns="0" rIns="0" bIns="0" rtlCol="0" anchor="ctr"/>
          <a:lstStyle/>
          <a:p>
            <a:pPr indent="0" marL="0">
              <a:buNone/>
            </a:pPr>
            <a:r>
              <a:rPr lang="en-US" sz="1050" dirty="0">
                <a:solidFill>
                  <a:srgbClr val="5C6470"/>
                </a:solidFill>
                <a:latin typeface="Calibri" pitchFamily="34" charset="0"/>
                <a:ea typeface="Calibri" pitchFamily="34" charset="-122"/>
                <a:cs typeface="Calibri" pitchFamily="34" charset="-120"/>
              </a:rPr>
              <a:t>Recall@5 on the golden</a:t>
            </a:r>
            <a:endParaRPr lang="en-US" sz="1050" dirty="0"/>
          </a:p>
          <a:p>
            <a:pPr indent="0" marL="0">
              <a:buNone/>
            </a:pPr>
            <a:r>
              <a:rPr lang="en-US" sz="1050" dirty="0">
                <a:solidFill>
                  <a:srgbClr val="5C6470"/>
                </a:solidFill>
                <a:latin typeface="Calibri" pitchFamily="34" charset="0"/>
                <a:ea typeface="Calibri" pitchFamily="34" charset="-122"/>
                <a:cs typeface="Calibri" pitchFamily="34" charset="-120"/>
              </a:rPr>
              <a:t>query suite (gate: ≥ 0.90)</a:t>
            </a:r>
            <a:endParaRPr lang="en-US" sz="1050" dirty="0"/>
          </a:p>
        </p:txBody>
      </p:sp>
      <p:sp>
        <p:nvSpPr>
          <p:cNvPr id="14" name="Shape 12"/>
          <p:cNvSpPr/>
          <p:nvPr/>
        </p:nvSpPr>
        <p:spPr>
          <a:xfrm>
            <a:off x="3355848" y="4160520"/>
            <a:ext cx="2615184" cy="1371600"/>
          </a:xfrm>
          <a:prstGeom prst="roundRect">
            <a:avLst>
              <a:gd name="adj" fmla="val 5333"/>
            </a:avLst>
          </a:prstGeom>
          <a:solidFill>
            <a:srgbClr val="EEF4FB"/>
          </a:solidFill>
          <a:ln w="12700">
            <a:solidFill>
              <a:srgbClr val="EEF4FB"/>
            </a:solidFill>
            <a:prstDash val="solid"/>
          </a:ln>
        </p:spPr>
      </p:sp>
      <p:sp>
        <p:nvSpPr>
          <p:cNvPr id="15" name="Text 13"/>
          <p:cNvSpPr/>
          <p:nvPr/>
        </p:nvSpPr>
        <p:spPr>
          <a:xfrm>
            <a:off x="3520440" y="4279392"/>
            <a:ext cx="2286000" cy="457200"/>
          </a:xfrm>
          <a:prstGeom prst="rect">
            <a:avLst/>
          </a:prstGeom>
          <a:noFill/>
          <a:ln/>
        </p:spPr>
        <p:txBody>
          <a:bodyPr wrap="square" lIns="0" tIns="0" rIns="0" bIns="0" rtlCol="0" anchor="ctr"/>
          <a:lstStyle/>
          <a:p>
            <a:pPr indent="0" marL="0">
              <a:buNone/>
            </a:pPr>
            <a:r>
              <a:rPr lang="en-US" sz="2300" b="1" dirty="0">
                <a:solidFill>
                  <a:srgbClr val="1E2761"/>
                </a:solidFill>
                <a:latin typeface="Cambria" pitchFamily="34" charset="0"/>
                <a:ea typeface="Cambria" pitchFamily="34" charset="-122"/>
                <a:cs typeface="Cambria" pitchFamily="34" charset="-120"/>
              </a:rPr>
              <a:t>0.91</a:t>
            </a:r>
            <a:endParaRPr lang="en-US" sz="2300" dirty="0"/>
          </a:p>
        </p:txBody>
      </p:sp>
      <p:sp>
        <p:nvSpPr>
          <p:cNvPr id="16" name="Text 14"/>
          <p:cNvSpPr/>
          <p:nvPr/>
        </p:nvSpPr>
        <p:spPr>
          <a:xfrm>
            <a:off x="3520440" y="4754880"/>
            <a:ext cx="2377440" cy="685800"/>
          </a:xfrm>
          <a:prstGeom prst="rect">
            <a:avLst/>
          </a:prstGeom>
          <a:noFill/>
          <a:ln/>
        </p:spPr>
        <p:txBody>
          <a:bodyPr wrap="square" lIns="0" tIns="0" rIns="0" bIns="0" rtlCol="0" anchor="ctr"/>
          <a:lstStyle/>
          <a:p>
            <a:pPr indent="0" marL="0">
              <a:buNone/>
            </a:pPr>
            <a:r>
              <a:rPr lang="en-US" sz="1050" dirty="0">
                <a:solidFill>
                  <a:srgbClr val="5C6470"/>
                </a:solidFill>
                <a:latin typeface="Calibri" pitchFamily="34" charset="0"/>
                <a:ea typeface="Calibri" pitchFamily="34" charset="-122"/>
                <a:cs typeface="Calibri" pitchFamily="34" charset="-120"/>
              </a:rPr>
              <a:t>Mean reciprocal rank —</a:t>
            </a:r>
            <a:endParaRPr lang="en-US" sz="1050" dirty="0"/>
          </a:p>
          <a:p>
            <a:pPr indent="0" marL="0">
              <a:buNone/>
            </a:pPr>
            <a:r>
              <a:rPr lang="en-US" sz="1050" dirty="0">
                <a:solidFill>
                  <a:srgbClr val="5C6470"/>
                </a:solidFill>
                <a:latin typeface="Calibri" pitchFamily="34" charset="0"/>
                <a:ea typeface="Calibri" pitchFamily="34" charset="-122"/>
                <a:cs typeface="Calibri" pitchFamily="34" charset="-120"/>
              </a:rPr>
              <a:t>right page near the top</a:t>
            </a:r>
            <a:endParaRPr lang="en-US" sz="1050" dirty="0"/>
          </a:p>
        </p:txBody>
      </p:sp>
      <p:sp>
        <p:nvSpPr>
          <p:cNvPr id="17" name="Shape 15"/>
          <p:cNvSpPr/>
          <p:nvPr/>
        </p:nvSpPr>
        <p:spPr>
          <a:xfrm>
            <a:off x="6208776" y="4160520"/>
            <a:ext cx="2615184" cy="1371600"/>
          </a:xfrm>
          <a:prstGeom prst="roundRect">
            <a:avLst>
              <a:gd name="adj" fmla="val 5333"/>
            </a:avLst>
          </a:prstGeom>
          <a:solidFill>
            <a:srgbClr val="EEF4FB"/>
          </a:solidFill>
          <a:ln w="12700">
            <a:solidFill>
              <a:srgbClr val="EEF4FB"/>
            </a:solidFill>
            <a:prstDash val="solid"/>
          </a:ln>
        </p:spPr>
      </p:sp>
      <p:sp>
        <p:nvSpPr>
          <p:cNvPr id="18" name="Text 16"/>
          <p:cNvSpPr/>
          <p:nvPr/>
        </p:nvSpPr>
        <p:spPr>
          <a:xfrm>
            <a:off x="6373368" y="4279392"/>
            <a:ext cx="2286000" cy="457200"/>
          </a:xfrm>
          <a:prstGeom prst="rect">
            <a:avLst/>
          </a:prstGeom>
          <a:noFill/>
          <a:ln/>
        </p:spPr>
        <p:txBody>
          <a:bodyPr wrap="square" lIns="0" tIns="0" rIns="0" bIns="0" rtlCol="0" anchor="ctr"/>
          <a:lstStyle/>
          <a:p>
            <a:pPr indent="0" marL="0">
              <a:buNone/>
            </a:pPr>
            <a:r>
              <a:rPr lang="en-US" sz="2300" b="1" dirty="0">
                <a:solidFill>
                  <a:srgbClr val="1E2761"/>
                </a:solidFill>
                <a:latin typeface="Cambria" pitchFamily="34" charset="0"/>
                <a:ea typeface="Cambria" pitchFamily="34" charset="-122"/>
                <a:cs typeface="Cambria" pitchFamily="34" charset="-120"/>
              </a:rPr>
              <a:t>every PR</a:t>
            </a:r>
            <a:endParaRPr lang="en-US" sz="2300" dirty="0"/>
          </a:p>
        </p:txBody>
      </p:sp>
      <p:sp>
        <p:nvSpPr>
          <p:cNvPr id="19" name="Text 17"/>
          <p:cNvSpPr/>
          <p:nvPr/>
        </p:nvSpPr>
        <p:spPr>
          <a:xfrm>
            <a:off x="6373368" y="4754880"/>
            <a:ext cx="2377440" cy="685800"/>
          </a:xfrm>
          <a:prstGeom prst="rect">
            <a:avLst/>
          </a:prstGeom>
          <a:noFill/>
          <a:ln/>
        </p:spPr>
        <p:txBody>
          <a:bodyPr wrap="square" lIns="0" tIns="0" rIns="0" bIns="0" rtlCol="0" anchor="ctr"/>
          <a:lstStyle/>
          <a:p>
            <a:pPr indent="0" marL="0">
              <a:buNone/>
            </a:pPr>
            <a:r>
              <a:rPr lang="en-US" sz="1050" dirty="0">
                <a:solidFill>
                  <a:srgbClr val="5C6470"/>
                </a:solidFill>
                <a:latin typeface="Calibri" pitchFamily="34" charset="0"/>
                <a:ea typeface="Calibri" pitchFamily="34" charset="-122"/>
                <a:cs typeface="Calibri" pitchFamily="34" charset="-120"/>
              </a:rPr>
              <a:t>retrieval exam runs in CI;</a:t>
            </a:r>
            <a:endParaRPr lang="en-US" sz="1050" dirty="0"/>
          </a:p>
          <a:p>
            <a:pPr indent="0" marL="0">
              <a:buNone/>
            </a:pPr>
            <a:r>
              <a:rPr lang="en-US" sz="1050" dirty="0">
                <a:solidFill>
                  <a:srgbClr val="5C6470"/>
                </a:solidFill>
                <a:latin typeface="Calibri" pitchFamily="34" charset="0"/>
                <a:ea typeface="Calibri" pitchFamily="34" charset="-122"/>
                <a:cs typeface="Calibri" pitchFamily="34" charset="-120"/>
              </a:rPr>
              <a:t>a regression fails the build</a:t>
            </a:r>
            <a:endParaRPr lang="en-US" sz="1050" dirty="0"/>
          </a:p>
        </p:txBody>
      </p:sp>
      <p:sp>
        <p:nvSpPr>
          <p:cNvPr id="20" name="Shape 18"/>
          <p:cNvSpPr/>
          <p:nvPr/>
        </p:nvSpPr>
        <p:spPr>
          <a:xfrm>
            <a:off x="9061704" y="4160520"/>
            <a:ext cx="2615184" cy="1371600"/>
          </a:xfrm>
          <a:prstGeom prst="roundRect">
            <a:avLst>
              <a:gd name="adj" fmla="val 5333"/>
            </a:avLst>
          </a:prstGeom>
          <a:solidFill>
            <a:srgbClr val="EEF4FB"/>
          </a:solidFill>
          <a:ln w="12700">
            <a:solidFill>
              <a:srgbClr val="EEF4FB"/>
            </a:solidFill>
            <a:prstDash val="solid"/>
          </a:ln>
        </p:spPr>
      </p:sp>
      <p:sp>
        <p:nvSpPr>
          <p:cNvPr id="21" name="Text 19"/>
          <p:cNvSpPr/>
          <p:nvPr/>
        </p:nvSpPr>
        <p:spPr>
          <a:xfrm>
            <a:off x="9226296" y="4279392"/>
            <a:ext cx="2286000" cy="457200"/>
          </a:xfrm>
          <a:prstGeom prst="rect">
            <a:avLst/>
          </a:prstGeom>
          <a:noFill/>
          <a:ln/>
        </p:spPr>
        <p:txBody>
          <a:bodyPr wrap="square" lIns="0" tIns="0" rIns="0" bIns="0" rtlCol="0" anchor="ctr"/>
          <a:lstStyle/>
          <a:p>
            <a:pPr indent="0" marL="0">
              <a:buNone/>
            </a:pPr>
            <a:r>
              <a:rPr lang="en-US" sz="2300" b="1" dirty="0">
                <a:solidFill>
                  <a:srgbClr val="1E2761"/>
                </a:solidFill>
                <a:latin typeface="Cambria" pitchFamily="34" charset="0"/>
                <a:ea typeface="Cambria" pitchFamily="34" charset="-122"/>
                <a:cs typeface="Cambria" pitchFamily="34" charset="-120"/>
              </a:rPr>
              <a:t>$0 / CPU-only</a:t>
            </a:r>
            <a:endParaRPr lang="en-US" sz="2300" dirty="0"/>
          </a:p>
        </p:txBody>
      </p:sp>
      <p:sp>
        <p:nvSpPr>
          <p:cNvPr id="22" name="Text 20"/>
          <p:cNvSpPr/>
          <p:nvPr/>
        </p:nvSpPr>
        <p:spPr>
          <a:xfrm>
            <a:off x="9226296" y="4754880"/>
            <a:ext cx="2377440" cy="685800"/>
          </a:xfrm>
          <a:prstGeom prst="rect">
            <a:avLst/>
          </a:prstGeom>
          <a:noFill/>
          <a:ln/>
        </p:spPr>
        <p:txBody>
          <a:bodyPr wrap="square" lIns="0" tIns="0" rIns="0" bIns="0" rtlCol="0" anchor="ctr"/>
          <a:lstStyle/>
          <a:p>
            <a:pPr indent="0" marL="0">
              <a:buNone/>
            </a:pPr>
            <a:r>
              <a:rPr lang="en-US" sz="1050" dirty="0">
                <a:solidFill>
                  <a:srgbClr val="5C6470"/>
                </a:solidFill>
                <a:latin typeface="Calibri" pitchFamily="34" charset="0"/>
                <a:ea typeface="Calibri" pitchFamily="34" charset="-122"/>
                <a:cs typeface="Calibri" pitchFamily="34" charset="-120"/>
              </a:rPr>
              <a:t>in-process index, no vector</a:t>
            </a:r>
            <a:endParaRPr lang="en-US" sz="1050" dirty="0"/>
          </a:p>
          <a:p>
            <a:pPr indent="0" marL="0">
              <a:buNone/>
            </a:pPr>
            <a:r>
              <a:rPr lang="en-US" sz="1050" dirty="0">
                <a:solidFill>
                  <a:srgbClr val="5C6470"/>
                </a:solidFill>
                <a:latin typeface="Calibri" pitchFamily="34" charset="0"/>
                <a:ea typeface="Calibri" pitchFamily="34" charset="-122"/>
                <a:cs typeface="Calibri" pitchFamily="34" charset="-120"/>
              </a:rPr>
              <a:t>DB, no GPU, works offline</a:t>
            </a:r>
            <a:endParaRPr lang="en-US" sz="1050" dirty="0"/>
          </a:p>
        </p:txBody>
      </p:sp>
      <p:sp>
        <p:nvSpPr>
          <p:cNvPr id="23" name="Text 21"/>
          <p:cNvSpPr/>
          <p:nvPr/>
        </p:nvSpPr>
        <p:spPr>
          <a:xfrm>
            <a:off x="502920" y="5715000"/>
            <a:ext cx="11155680" cy="59436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Discipline: </a:t>
            </a:r>
            <a:pPr indent="0" marL="0">
              <a:buNone/>
            </a:pPr>
            <a:r>
              <a:rPr lang="en-US" sz="1250" dirty="0">
                <a:solidFill>
                  <a:srgbClr val="232838"/>
                </a:solidFill>
                <a:latin typeface="Calibri" pitchFamily="34" charset="0"/>
                <a:ea typeface="Calibri" pitchFamily="34" charset="-122"/>
                <a:cs typeface="Calibri" pitchFamily="34" charset="-120"/>
              </a:rPr>
              <a:t>keyword search is the default because our vocabulary is labels (service names, operation IDs). The fancy semantic tier ships switched off — it earns its place only by beating BM25 on the exam by a stated margin. Decisions by scoreboard, not by fashion.</a:t>
            </a:r>
            <a:endParaRPr lang="en-US" sz="1250" dirty="0"/>
          </a:p>
        </p:txBody>
      </p:sp>
      <p:sp>
        <p:nvSpPr>
          <p:cNvPr id="24" name="Text 22"/>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5C6470"/>
                </a:solidFill>
                <a:latin typeface="Calibri" pitchFamily="34" charset="0"/>
                <a:ea typeface="Calibri" pitchFamily="34" charset="-122"/>
                <a:cs typeface="Calibri" pitchFamily="34" charset="-120"/>
              </a:rPr>
              <a:t>Commerce Knowledge Base — Architecture Briefing</a:t>
            </a:r>
            <a:endParaRPr lang="en-US" sz="900" dirty="0"/>
          </a:p>
        </p:txBody>
      </p:sp>
      <p:sp>
        <p:nvSpPr>
          <p:cNvPr id="25" name="Text 23"/>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5C64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200" kern="0" dirty="0">
                <a:solidFill>
                  <a:srgbClr val="8A5F00"/>
                </a:solidFill>
                <a:latin typeface="Calibri" pitchFamily="34" charset="0"/>
                <a:ea typeface="Calibri" pitchFamily="34" charset="-122"/>
                <a:cs typeface="Calibri" pitchFamily="34" charset="-120"/>
              </a:rPr>
              <a:t>WHY THIS WAY — PART 3</a:t>
            </a:r>
            <a:endParaRPr lang="en-US" sz="1100" dirty="0"/>
          </a:p>
        </p:txBody>
      </p:sp>
      <p:sp>
        <p:nvSpPr>
          <p:cNvPr id="3" name="Text 1"/>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Why MCP — the standard socket for AI agents</a:t>
            </a:r>
            <a:endParaRPr lang="en-US" sz="3000" dirty="0"/>
          </a:p>
        </p:txBody>
      </p:sp>
      <p:sp>
        <p:nvSpPr>
          <p:cNvPr id="4" name="Shape 2"/>
          <p:cNvSpPr/>
          <p:nvPr/>
        </p:nvSpPr>
        <p:spPr>
          <a:xfrm>
            <a:off x="502920" y="1463040"/>
            <a:ext cx="6675120" cy="4663440"/>
          </a:xfrm>
          <a:prstGeom prst="roundRect">
            <a:avLst>
              <a:gd name="adj" fmla="val 1569"/>
            </a:avLst>
          </a:prstGeom>
          <a:solidFill>
            <a:srgbClr val="EEF4FB"/>
          </a:solidFill>
          <a:ln w="12700">
            <a:solidFill>
              <a:srgbClr val="EEF4FB"/>
            </a:solidFill>
            <a:prstDash val="solid"/>
          </a:ln>
        </p:spPr>
      </p:sp>
      <p:sp>
        <p:nvSpPr>
          <p:cNvPr id="5" name="Text 3"/>
          <p:cNvSpPr/>
          <p:nvPr/>
        </p:nvSpPr>
        <p:spPr>
          <a:xfrm>
            <a:off x="777240" y="1664208"/>
            <a:ext cx="6126480" cy="36576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Model Context Protocol (MCP) is how AI agents call tools.</a:t>
            </a:r>
            <a:endParaRPr lang="en-US" sz="1550" dirty="0"/>
          </a:p>
        </p:txBody>
      </p:sp>
      <p:sp>
        <p:nvSpPr>
          <p:cNvPr id="6" name="Shape 4"/>
          <p:cNvSpPr/>
          <p:nvPr/>
        </p:nvSpPr>
        <p:spPr>
          <a:xfrm>
            <a:off x="822960" y="2194560"/>
            <a:ext cx="310896" cy="310896"/>
          </a:xfrm>
          <a:prstGeom prst="ellipse">
            <a:avLst/>
          </a:prstGeom>
          <a:solidFill>
            <a:srgbClr val="F0A500"/>
          </a:solidFill>
          <a:ln/>
        </p:spPr>
      </p:sp>
      <p:sp>
        <p:nvSpPr>
          <p:cNvPr id="7" name="Text 5"/>
          <p:cNvSpPr/>
          <p:nvPr/>
        </p:nvSpPr>
        <p:spPr>
          <a:xfrm>
            <a:off x="795528" y="2176272"/>
            <a:ext cx="3657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298448" y="2148840"/>
            <a:ext cx="566928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An open standard, not a bet on a vendor</a:t>
            </a:r>
            <a:endParaRPr lang="en-US" sz="1300" dirty="0"/>
          </a:p>
        </p:txBody>
      </p:sp>
      <p:sp>
        <p:nvSpPr>
          <p:cNvPr id="9" name="Text 7"/>
          <p:cNvSpPr/>
          <p:nvPr/>
        </p:nvSpPr>
        <p:spPr>
          <a:xfrm>
            <a:off x="1298448" y="2450592"/>
            <a:ext cx="5669280" cy="658368"/>
          </a:xfrm>
          <a:prstGeom prst="rect">
            <a:avLst/>
          </a:prstGeom>
          <a:noFill/>
          <a:ln/>
        </p:spPr>
        <p:txBody>
          <a:bodyPr wrap="square" lIns="0" tIns="0" rIns="0" bIns="0" rtlCol="0" anchor="ctr"/>
          <a:lstStyle/>
          <a:p>
            <a:pPr indent="0" marL="0">
              <a:buNone/>
            </a:pPr>
            <a:r>
              <a:rPr lang="en-US" sz="1100" dirty="0">
                <a:solidFill>
                  <a:srgbClr val="232838"/>
                </a:solidFill>
                <a:latin typeface="Calibri" pitchFamily="34" charset="0"/>
                <a:ea typeface="Calibri" pitchFamily="34" charset="-122"/>
                <a:cs typeface="Calibri" pitchFamily="34" charset="-120"/>
              </a:rPr>
              <a:t>Governed by the Linux Foundation; spoken by OpenAI, Google, Microsoft, AWS, IBM. Roughly a quarter of the Fortune 500 already runs MCP servers.</a:t>
            </a:r>
            <a:endParaRPr lang="en-US" sz="1100" dirty="0"/>
          </a:p>
        </p:txBody>
      </p:sp>
      <p:sp>
        <p:nvSpPr>
          <p:cNvPr id="10" name="Shape 8"/>
          <p:cNvSpPr/>
          <p:nvPr/>
        </p:nvSpPr>
        <p:spPr>
          <a:xfrm>
            <a:off x="822960" y="3182112"/>
            <a:ext cx="310896" cy="310896"/>
          </a:xfrm>
          <a:prstGeom prst="ellipse">
            <a:avLst/>
          </a:prstGeom>
          <a:solidFill>
            <a:srgbClr val="F0A500"/>
          </a:solidFill>
          <a:ln/>
        </p:spPr>
      </p:sp>
      <p:sp>
        <p:nvSpPr>
          <p:cNvPr id="11" name="Text 9"/>
          <p:cNvSpPr/>
          <p:nvPr/>
        </p:nvSpPr>
        <p:spPr>
          <a:xfrm>
            <a:off x="795528" y="3163824"/>
            <a:ext cx="3657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298448" y="3136392"/>
            <a:ext cx="566928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One server, every AI tool</a:t>
            </a:r>
            <a:endParaRPr lang="en-US" sz="1300" dirty="0"/>
          </a:p>
        </p:txBody>
      </p:sp>
      <p:sp>
        <p:nvSpPr>
          <p:cNvPr id="13" name="Text 11"/>
          <p:cNvSpPr/>
          <p:nvPr/>
        </p:nvSpPr>
        <p:spPr>
          <a:xfrm>
            <a:off x="1298448" y="3438144"/>
            <a:ext cx="5669280" cy="658368"/>
          </a:xfrm>
          <a:prstGeom prst="rect">
            <a:avLst/>
          </a:prstGeom>
          <a:noFill/>
          <a:ln/>
        </p:spPr>
        <p:txBody>
          <a:bodyPr wrap="square" lIns="0" tIns="0" rIns="0" bIns="0" rtlCol="0" anchor="ctr"/>
          <a:lstStyle/>
          <a:p>
            <a:pPr indent="0" marL="0">
              <a:buNone/>
            </a:pPr>
            <a:r>
              <a:rPr lang="en-US" sz="1100" dirty="0">
                <a:solidFill>
                  <a:srgbClr val="232838"/>
                </a:solidFill>
                <a:latin typeface="Calibri" pitchFamily="34" charset="0"/>
                <a:ea typeface="Calibri" pitchFamily="34" charset="-122"/>
                <a:cs typeface="Calibri" pitchFamily="34" charset="-120"/>
              </a:rPr>
              <a:t>A custom REST API needs custom client glue in every IDE and agent. MCP needs none — Copilot, Claude, Gemini and our IDE agents already speak it.</a:t>
            </a:r>
            <a:endParaRPr lang="en-US" sz="1100" dirty="0"/>
          </a:p>
        </p:txBody>
      </p:sp>
      <p:sp>
        <p:nvSpPr>
          <p:cNvPr id="14" name="Shape 12"/>
          <p:cNvSpPr/>
          <p:nvPr/>
        </p:nvSpPr>
        <p:spPr>
          <a:xfrm>
            <a:off x="822960" y="4169664"/>
            <a:ext cx="310896" cy="310896"/>
          </a:xfrm>
          <a:prstGeom prst="ellipse">
            <a:avLst/>
          </a:prstGeom>
          <a:solidFill>
            <a:srgbClr val="F0A500"/>
          </a:solidFill>
          <a:ln/>
        </p:spPr>
      </p:sp>
      <p:sp>
        <p:nvSpPr>
          <p:cNvPr id="15" name="Text 13"/>
          <p:cNvSpPr/>
          <p:nvPr/>
        </p:nvSpPr>
        <p:spPr>
          <a:xfrm>
            <a:off x="795528" y="4151376"/>
            <a:ext cx="3657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298448" y="4123944"/>
            <a:ext cx="566928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Structured, honest answers</a:t>
            </a:r>
            <a:endParaRPr lang="en-US" sz="1300" dirty="0"/>
          </a:p>
        </p:txBody>
      </p:sp>
      <p:sp>
        <p:nvSpPr>
          <p:cNvPr id="17" name="Text 15"/>
          <p:cNvSpPr/>
          <p:nvPr/>
        </p:nvSpPr>
        <p:spPr>
          <a:xfrm>
            <a:off x="1298448" y="4425696"/>
            <a:ext cx="5669280" cy="658368"/>
          </a:xfrm>
          <a:prstGeom prst="rect">
            <a:avLst/>
          </a:prstGeom>
          <a:noFill/>
          <a:ln/>
        </p:spPr>
        <p:txBody>
          <a:bodyPr wrap="square" lIns="0" tIns="0" rIns="0" bIns="0" rtlCol="0" anchor="ctr"/>
          <a:lstStyle/>
          <a:p>
            <a:pPr indent="0" marL="0">
              <a:buNone/>
            </a:pPr>
            <a:r>
              <a:rPr lang="en-US" sz="1100" dirty="0">
                <a:solidFill>
                  <a:srgbClr val="232838"/>
                </a:solidFill>
                <a:latin typeface="Calibri" pitchFamily="34" charset="0"/>
                <a:ea typeface="Calibri" pitchFamily="34" charset="-122"/>
                <a:cs typeface="Calibri" pitchFamily="34" charset="-120"/>
              </a:rPr>
              <a:t>Every response carries typed fields, its kb:// address, its trust label, and a staleness warning when a page is past its expiry. No walls of text, no bluffing.</a:t>
            </a:r>
            <a:endParaRPr lang="en-US" sz="1100" dirty="0"/>
          </a:p>
        </p:txBody>
      </p:sp>
      <p:sp>
        <p:nvSpPr>
          <p:cNvPr id="18" name="Shape 16"/>
          <p:cNvSpPr/>
          <p:nvPr/>
        </p:nvSpPr>
        <p:spPr>
          <a:xfrm>
            <a:off x="822960" y="5157216"/>
            <a:ext cx="310896" cy="310896"/>
          </a:xfrm>
          <a:prstGeom prst="ellipse">
            <a:avLst/>
          </a:prstGeom>
          <a:solidFill>
            <a:srgbClr val="F0A500"/>
          </a:solidFill>
          <a:ln/>
        </p:spPr>
      </p:sp>
      <p:sp>
        <p:nvSpPr>
          <p:cNvPr id="19" name="Text 17"/>
          <p:cNvSpPr/>
          <p:nvPr/>
        </p:nvSpPr>
        <p:spPr>
          <a:xfrm>
            <a:off x="795528" y="5138928"/>
            <a:ext cx="3657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1298448" y="5111496"/>
            <a:ext cx="566928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9 tools, deliberately few</a:t>
            </a:r>
            <a:endParaRPr lang="en-US" sz="1300" dirty="0"/>
          </a:p>
        </p:txBody>
      </p:sp>
      <p:sp>
        <p:nvSpPr>
          <p:cNvPr id="21" name="Text 19"/>
          <p:cNvSpPr/>
          <p:nvPr/>
        </p:nvSpPr>
        <p:spPr>
          <a:xfrm>
            <a:off x="1298448" y="5413248"/>
            <a:ext cx="5669280" cy="658368"/>
          </a:xfrm>
          <a:prstGeom prst="rect">
            <a:avLst/>
          </a:prstGeom>
          <a:noFill/>
          <a:ln/>
        </p:spPr>
        <p:txBody>
          <a:bodyPr wrap="square" lIns="0" tIns="0" rIns="0" bIns="0" rtlCol="0" anchor="ctr"/>
          <a:lstStyle/>
          <a:p>
            <a:pPr indent="0" marL="0">
              <a:buNone/>
            </a:pPr>
            <a:r>
              <a:rPr lang="en-US" sz="1100" dirty="0">
                <a:solidFill>
                  <a:srgbClr val="232838"/>
                </a:solidFill>
                <a:latin typeface="Calibri" pitchFamily="34" charset="0"/>
                <a:ea typeface="Calibri" pitchFamily="34" charset="-122"/>
                <a:cs typeface="Calibri" pitchFamily="34" charset="-120"/>
              </a:rPr>
              <a:t>We consolidated 25 overlapping tools to 9. Fewer, well-described tools = agents choose correctly and waste no context window.</a:t>
            </a:r>
            <a:endParaRPr lang="en-US" sz="1100" dirty="0"/>
          </a:p>
        </p:txBody>
      </p:sp>
      <p:sp>
        <p:nvSpPr>
          <p:cNvPr id="22" name="Shape 20"/>
          <p:cNvSpPr/>
          <p:nvPr/>
        </p:nvSpPr>
        <p:spPr>
          <a:xfrm>
            <a:off x="7452360" y="1463040"/>
            <a:ext cx="4206240" cy="4663440"/>
          </a:xfrm>
          <a:prstGeom prst="roundRect">
            <a:avLst>
              <a:gd name="adj" fmla="val 1739"/>
            </a:avLst>
          </a:prstGeom>
          <a:solidFill>
            <a:srgbClr val="1E2761"/>
          </a:solidFill>
          <a:ln w="12700">
            <a:solidFill>
              <a:srgbClr val="1E2761"/>
            </a:solidFill>
            <a:prstDash val="solid"/>
          </a:ln>
        </p:spPr>
      </p:sp>
      <p:sp>
        <p:nvSpPr>
          <p:cNvPr id="23" name="Text 21"/>
          <p:cNvSpPr/>
          <p:nvPr/>
        </p:nvSpPr>
        <p:spPr>
          <a:xfrm>
            <a:off x="7726680" y="1691640"/>
            <a:ext cx="3657600" cy="365760"/>
          </a:xfrm>
          <a:prstGeom prst="rect">
            <a:avLst/>
          </a:prstGeom>
          <a:noFill/>
          <a:ln/>
        </p:spPr>
        <p:txBody>
          <a:bodyPr wrap="square" lIns="0" tIns="0" rIns="0" bIns="0" rtlCol="0" anchor="ctr"/>
          <a:lstStyle/>
          <a:p>
            <a:pPr indent="0" marL="0">
              <a:buNone/>
            </a:pPr>
            <a:r>
              <a:rPr lang="en-US" sz="1800" b="1" dirty="0">
                <a:solidFill>
                  <a:srgbClr val="F0A500"/>
                </a:solidFill>
                <a:latin typeface="Cambria" pitchFamily="34" charset="0"/>
                <a:ea typeface="Cambria" pitchFamily="34" charset="-122"/>
                <a:cs typeface="Cambria" pitchFamily="34" charset="-120"/>
              </a:rPr>
              <a:t>The restaurant rule</a:t>
            </a:r>
            <a:endParaRPr lang="en-US" sz="1800" dirty="0"/>
          </a:p>
        </p:txBody>
      </p:sp>
      <p:sp>
        <p:nvSpPr>
          <p:cNvPr id="24" name="Text 22"/>
          <p:cNvSpPr/>
          <p:nvPr/>
        </p:nvSpPr>
        <p:spPr>
          <a:xfrm>
            <a:off x="7726680" y="2103120"/>
            <a:ext cx="3657600" cy="685800"/>
          </a:xfrm>
          <a:prstGeom prst="rect">
            <a:avLst/>
          </a:prstGeom>
          <a:noFill/>
          <a:ln/>
        </p:spPr>
        <p:txBody>
          <a:bodyPr wrap="square" lIns="0" tIns="0" rIns="0" bIns="0"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Don’t let guests rummage through the kitchen. Give them a menu.</a:t>
            </a:r>
            <a:endParaRPr lang="en-US" sz="1300" dirty="0"/>
          </a:p>
        </p:txBody>
      </p:sp>
      <p:sp>
        <p:nvSpPr>
          <p:cNvPr id="25" name="Text 23"/>
          <p:cNvSpPr/>
          <p:nvPr/>
        </p:nvSpPr>
        <p:spPr>
          <a:xfrm>
            <a:off x="7726680" y="2880360"/>
            <a:ext cx="3657600" cy="210312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Before: agents crawled files, filling their limited context with clutter — and confusing services.</a:t>
            </a:r>
            <a:endParaRPr lang="en-US" sz="1200" dirty="0"/>
          </a:p>
          <a:p>
            <a:pPr indent="0" marL="0">
              <a:buNone/>
            </a:pP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After: nine precise dishes (list, get, search, impact, compare…) returning exactly what was ordered, with provenance.</a:t>
            </a:r>
            <a:endParaRPr lang="en-US" sz="1200" dirty="0"/>
          </a:p>
        </p:txBody>
      </p:sp>
      <p:sp>
        <p:nvSpPr>
          <p:cNvPr id="26" name="Text 24"/>
          <p:cNvSpPr/>
          <p:nvPr/>
        </p:nvSpPr>
        <p:spPr>
          <a:xfrm>
            <a:off x="7726680" y="5212080"/>
            <a:ext cx="3657600" cy="685800"/>
          </a:xfrm>
          <a:prstGeom prst="rect">
            <a:avLst/>
          </a:prstGeom>
          <a:noFill/>
          <a:ln/>
        </p:spPr>
        <p:txBody>
          <a:bodyPr wrap="square" lIns="0" tIns="0" rIns="0" bIns="0" rtlCol="0" anchor="ctr"/>
          <a:lstStyle/>
          <a:p>
            <a:pPr indent="0" marL="0">
              <a:buNone/>
            </a:pPr>
            <a:r>
              <a:rPr lang="en-US" sz="1050" dirty="0">
                <a:solidFill>
                  <a:srgbClr val="F0A500"/>
                </a:solidFill>
                <a:latin typeface="Courier New" pitchFamily="34" charset="0"/>
                <a:ea typeface="Courier New" pitchFamily="34" charset="-122"/>
                <a:cs typeface="Courier New" pitchFamily="34" charset="-120"/>
              </a:rPr>
              <a:t>kb_get(type='api', name='shoppingcartms/addItemsToCart')</a:t>
            </a:r>
            <a:endParaRPr lang="en-US" sz="1050" dirty="0"/>
          </a:p>
        </p:txBody>
      </p:sp>
      <p:sp>
        <p:nvSpPr>
          <p:cNvPr id="27" name="Text 25"/>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5C6470"/>
                </a:solidFill>
                <a:latin typeface="Calibri" pitchFamily="34" charset="0"/>
                <a:ea typeface="Calibri" pitchFamily="34" charset="-122"/>
                <a:cs typeface="Calibri" pitchFamily="34" charset="-120"/>
              </a:rPr>
              <a:t>Commerce Knowledge Base — Architecture Briefing</a:t>
            </a:r>
            <a:endParaRPr lang="en-US" sz="900" dirty="0"/>
          </a:p>
        </p:txBody>
      </p:sp>
      <p:sp>
        <p:nvSpPr>
          <p:cNvPr id="28" name="Text 26"/>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5C64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200" kern="0" dirty="0">
                <a:solidFill>
                  <a:srgbClr val="8A5F00"/>
                </a:solidFill>
                <a:latin typeface="Calibri" pitchFamily="34" charset="0"/>
                <a:ea typeface="Calibri" pitchFamily="34" charset="-122"/>
                <a:cs typeface="Calibri" pitchFamily="34" charset="-120"/>
              </a:rPr>
              <a:t>STAYING TRUSTWORTHY</a:t>
            </a:r>
            <a:endParaRPr lang="en-US" sz="1100" dirty="0"/>
          </a:p>
        </p:txBody>
      </p:sp>
      <p:sp>
        <p:nvSpPr>
          <p:cNvPr id="3" name="Text 1"/>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Fresh by design, honest by default</a:t>
            </a:r>
            <a:endParaRPr lang="en-US" sz="3000" dirty="0"/>
          </a:p>
        </p:txBody>
      </p:sp>
      <p:sp>
        <p:nvSpPr>
          <p:cNvPr id="4" name="Shape 2"/>
          <p:cNvSpPr/>
          <p:nvPr/>
        </p:nvSpPr>
        <p:spPr>
          <a:xfrm>
            <a:off x="502920" y="1463040"/>
            <a:ext cx="5486400" cy="4663440"/>
          </a:xfrm>
          <a:prstGeom prst="roundRect">
            <a:avLst>
              <a:gd name="adj" fmla="val 1569"/>
            </a:avLst>
          </a:prstGeom>
          <a:solidFill>
            <a:srgbClr val="EEF4FB"/>
          </a:solidFill>
          <a:ln w="12700">
            <a:solidFill>
              <a:srgbClr val="EEF4FB"/>
            </a:solidFill>
            <a:prstDash val="solid"/>
          </a:ln>
        </p:spPr>
      </p:sp>
      <p:sp>
        <p:nvSpPr>
          <p:cNvPr id="5" name="Text 3"/>
          <p:cNvSpPr/>
          <p:nvPr/>
        </p:nvSpPr>
        <p:spPr>
          <a:xfrm>
            <a:off x="777240" y="1664208"/>
            <a:ext cx="4937760" cy="36576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Freshness: track change, not age</a:t>
            </a:r>
            <a:endParaRPr lang="en-US" sz="1550" dirty="0"/>
          </a:p>
        </p:txBody>
      </p:sp>
      <p:sp>
        <p:nvSpPr>
          <p:cNvPr id="6" name="Text 4"/>
          <p:cNvSpPr/>
          <p:nvPr/>
        </p:nvSpPr>
        <p:spPr>
          <a:xfrm>
            <a:off x="777240" y="2084832"/>
            <a:ext cx="4937760" cy="1234440"/>
          </a:xfrm>
          <a:prstGeom prst="rect">
            <a:avLst/>
          </a:prstGeom>
          <a:noFill/>
          <a:ln/>
        </p:spPr>
        <p:txBody>
          <a:bodyPr wrap="square" lIns="0" tIns="0" rIns="0" bIns="0" rtlCol="0" anchor="ctr"/>
          <a:lstStyle/>
          <a:p>
            <a:pPr indent="0" marL="0">
              <a:buNone/>
            </a:pPr>
            <a:r>
              <a:rPr lang="en-US" sz="1200" dirty="0">
                <a:solidFill>
                  <a:srgbClr val="232838"/>
                </a:solidFill>
                <a:latin typeface="Calibri" pitchFamily="34" charset="0"/>
                <a:ea typeface="Calibri" pitchFamily="34" charset="-122"/>
                <a:cs typeface="Calibri" pitchFamily="34" charset="-120"/>
              </a:rPr>
              <a:t>An expiry date tells you milk is old, not that it went bad. So every night the KB fingerprints all 45 service repos, detects what actually changed, and re-ingests only that — expiry dates remain as the backstop that pages a human if the machinery breaks.</a:t>
            </a:r>
            <a:endParaRPr lang="en-US" sz="1200" dirty="0"/>
          </a:p>
        </p:txBody>
      </p:sp>
      <p:sp>
        <p:nvSpPr>
          <p:cNvPr id="7" name="Shape 5"/>
          <p:cNvSpPr/>
          <p:nvPr/>
        </p:nvSpPr>
        <p:spPr>
          <a:xfrm>
            <a:off x="777240" y="3474720"/>
            <a:ext cx="2286000" cy="1097280"/>
          </a:xfrm>
          <a:prstGeom prst="roundRect">
            <a:avLst>
              <a:gd name="adj" fmla="val 6667"/>
            </a:avLst>
          </a:prstGeom>
          <a:solidFill>
            <a:srgbClr val="FFFFFF"/>
          </a:solidFill>
          <a:ln w="12700">
            <a:solidFill>
              <a:srgbClr val="FFFFFF"/>
            </a:solidFill>
            <a:prstDash val="solid"/>
          </a:ln>
        </p:spPr>
      </p:sp>
      <p:sp>
        <p:nvSpPr>
          <p:cNvPr id="8" name="Text 6"/>
          <p:cNvSpPr/>
          <p:nvPr/>
        </p:nvSpPr>
        <p:spPr>
          <a:xfrm>
            <a:off x="905256" y="3547872"/>
            <a:ext cx="2011680" cy="411480"/>
          </a:xfrm>
          <a:prstGeom prst="rect">
            <a:avLst/>
          </a:prstGeom>
          <a:noFill/>
          <a:ln/>
        </p:spPr>
        <p:txBody>
          <a:bodyPr wrap="square" lIns="0" tIns="0" rIns="0" bIns="0" rtlCol="0" anchor="ctr"/>
          <a:lstStyle/>
          <a:p>
            <a:pPr indent="0" marL="0">
              <a:buNone/>
            </a:pPr>
            <a:r>
              <a:rPr lang="en-US" sz="2000" b="1" dirty="0">
                <a:solidFill>
                  <a:srgbClr val="2C7A4B"/>
                </a:solidFill>
                <a:latin typeface="Cambria" pitchFamily="34" charset="0"/>
                <a:ea typeface="Cambria" pitchFamily="34" charset="-122"/>
                <a:cs typeface="Cambria" pitchFamily="34" charset="-120"/>
              </a:rPr>
              <a:t>≤ 24 h</a:t>
            </a:r>
            <a:endParaRPr lang="en-US" sz="2000" dirty="0"/>
          </a:p>
        </p:txBody>
      </p:sp>
      <p:sp>
        <p:nvSpPr>
          <p:cNvPr id="9" name="Text 7"/>
          <p:cNvSpPr/>
          <p:nvPr/>
        </p:nvSpPr>
        <p:spPr>
          <a:xfrm>
            <a:off x="905256" y="3950208"/>
            <a:ext cx="2057400" cy="566928"/>
          </a:xfrm>
          <a:prstGeom prst="rect">
            <a:avLst/>
          </a:prstGeom>
          <a:noFill/>
          <a:ln/>
        </p:spPr>
        <p:txBody>
          <a:bodyPr wrap="square" lIns="0" tIns="0" rIns="0" bIns="0" rtlCol="0" anchor="ctr"/>
          <a:lstStyle/>
          <a:p>
            <a:pPr indent="0" marL="0">
              <a:buNone/>
            </a:pPr>
            <a:r>
              <a:rPr lang="en-US" sz="950" dirty="0">
                <a:solidFill>
                  <a:srgbClr val="5C6470"/>
                </a:solidFill>
                <a:latin typeface="Calibri" pitchFamily="34" charset="0"/>
                <a:ea typeface="Calibri" pitchFamily="34" charset="-122"/>
                <a:cs typeface="Calibri" pitchFamily="34" charset="-120"/>
              </a:rPr>
              <a:t>typical time from a service</a:t>
            </a:r>
            <a:endParaRPr lang="en-US" sz="950" dirty="0"/>
          </a:p>
          <a:p>
            <a:pPr indent="0" marL="0">
              <a:buNone/>
            </a:pPr>
            <a:r>
              <a:rPr lang="en-US" sz="950" dirty="0">
                <a:solidFill>
                  <a:srgbClr val="5C6470"/>
                </a:solidFill>
                <a:latin typeface="Calibri" pitchFamily="34" charset="0"/>
                <a:ea typeface="Calibri" pitchFamily="34" charset="-122"/>
                <a:cs typeface="Calibri" pitchFamily="34" charset="-120"/>
              </a:rPr>
              <a:t>merge to updated knowledge</a:t>
            </a:r>
            <a:endParaRPr lang="en-US" sz="950" dirty="0"/>
          </a:p>
        </p:txBody>
      </p:sp>
      <p:sp>
        <p:nvSpPr>
          <p:cNvPr id="10" name="Shape 8"/>
          <p:cNvSpPr/>
          <p:nvPr/>
        </p:nvSpPr>
        <p:spPr>
          <a:xfrm>
            <a:off x="3291840" y="3474720"/>
            <a:ext cx="2286000" cy="1097280"/>
          </a:xfrm>
          <a:prstGeom prst="roundRect">
            <a:avLst>
              <a:gd name="adj" fmla="val 6667"/>
            </a:avLst>
          </a:prstGeom>
          <a:solidFill>
            <a:srgbClr val="FFFFFF"/>
          </a:solidFill>
          <a:ln w="12700">
            <a:solidFill>
              <a:srgbClr val="FFFFFF"/>
            </a:solidFill>
            <a:prstDash val="solid"/>
          </a:ln>
        </p:spPr>
      </p:sp>
      <p:sp>
        <p:nvSpPr>
          <p:cNvPr id="11" name="Text 9"/>
          <p:cNvSpPr/>
          <p:nvPr/>
        </p:nvSpPr>
        <p:spPr>
          <a:xfrm>
            <a:off x="3419856" y="3547872"/>
            <a:ext cx="2011680" cy="411480"/>
          </a:xfrm>
          <a:prstGeom prst="rect">
            <a:avLst/>
          </a:prstGeom>
          <a:noFill/>
          <a:ln/>
        </p:spPr>
        <p:txBody>
          <a:bodyPr wrap="square" lIns="0" tIns="0" rIns="0" bIns="0" rtlCol="0" anchor="ctr"/>
          <a:lstStyle/>
          <a:p>
            <a:pPr indent="0" marL="0">
              <a:buNone/>
            </a:pPr>
            <a:r>
              <a:rPr lang="en-US" sz="2000" b="1" dirty="0">
                <a:solidFill>
                  <a:srgbClr val="2C7A4B"/>
                </a:solidFill>
                <a:latin typeface="Cambria" pitchFamily="34" charset="0"/>
                <a:ea typeface="Cambria" pitchFamily="34" charset="-122"/>
                <a:cs typeface="Cambria" pitchFamily="34" charset="-120"/>
              </a:rPr>
              <a:t>7 days</a:t>
            </a:r>
            <a:endParaRPr lang="en-US" sz="2000" dirty="0"/>
          </a:p>
        </p:txBody>
      </p:sp>
      <p:sp>
        <p:nvSpPr>
          <p:cNvPr id="12" name="Text 10"/>
          <p:cNvSpPr/>
          <p:nvPr/>
        </p:nvSpPr>
        <p:spPr>
          <a:xfrm>
            <a:off x="3419856" y="3950208"/>
            <a:ext cx="2057400" cy="566928"/>
          </a:xfrm>
          <a:prstGeom prst="rect">
            <a:avLst/>
          </a:prstGeom>
          <a:noFill/>
          <a:ln/>
        </p:spPr>
        <p:txBody>
          <a:bodyPr wrap="square" lIns="0" tIns="0" rIns="0" bIns="0" rtlCol="0" anchor="ctr"/>
          <a:lstStyle/>
          <a:p>
            <a:pPr indent="0" marL="0">
              <a:buNone/>
            </a:pPr>
            <a:r>
              <a:rPr lang="en-US" sz="950" dirty="0">
                <a:solidFill>
                  <a:srgbClr val="5C6470"/>
                </a:solidFill>
                <a:latin typeface="Calibri" pitchFamily="34" charset="0"/>
                <a:ea typeface="Calibri" pitchFamily="34" charset="-122"/>
                <a:cs typeface="Calibri" pitchFamily="34" charset="-120"/>
              </a:rPr>
              <a:t>the published SLO —</a:t>
            </a:r>
            <a:endParaRPr lang="en-US" sz="950" dirty="0"/>
          </a:p>
          <a:p>
            <a:pPr indent="0" marL="0">
              <a:buNone/>
            </a:pPr>
            <a:r>
              <a:rPr lang="en-US" sz="950" dirty="0">
                <a:solidFill>
                  <a:srgbClr val="5C6470"/>
                </a:solidFill>
                <a:latin typeface="Calibri" pitchFamily="34" charset="0"/>
                <a:ea typeface="Calibri" pitchFamily="34" charset="-122"/>
                <a:cs typeface="Calibri" pitchFamily="34" charset="-120"/>
              </a:rPr>
              <a:t>we run at 7× headroom</a:t>
            </a:r>
            <a:endParaRPr lang="en-US" sz="950" dirty="0"/>
          </a:p>
        </p:txBody>
      </p:sp>
      <p:sp>
        <p:nvSpPr>
          <p:cNvPr id="13" name="Shape 11"/>
          <p:cNvSpPr/>
          <p:nvPr/>
        </p:nvSpPr>
        <p:spPr>
          <a:xfrm>
            <a:off x="777240" y="4709160"/>
            <a:ext cx="2286000" cy="1097280"/>
          </a:xfrm>
          <a:prstGeom prst="roundRect">
            <a:avLst>
              <a:gd name="adj" fmla="val 6667"/>
            </a:avLst>
          </a:prstGeom>
          <a:solidFill>
            <a:srgbClr val="FFFFFF"/>
          </a:solidFill>
          <a:ln w="12700">
            <a:solidFill>
              <a:srgbClr val="FFFFFF"/>
            </a:solidFill>
            <a:prstDash val="solid"/>
          </a:ln>
        </p:spPr>
      </p:sp>
      <p:sp>
        <p:nvSpPr>
          <p:cNvPr id="14" name="Text 12"/>
          <p:cNvSpPr/>
          <p:nvPr/>
        </p:nvSpPr>
        <p:spPr>
          <a:xfrm>
            <a:off x="905256" y="4782312"/>
            <a:ext cx="2011680" cy="411480"/>
          </a:xfrm>
          <a:prstGeom prst="rect">
            <a:avLst/>
          </a:prstGeom>
          <a:noFill/>
          <a:ln/>
        </p:spPr>
        <p:txBody>
          <a:bodyPr wrap="square" lIns="0" tIns="0" rIns="0" bIns="0" rtlCol="0" anchor="ctr"/>
          <a:lstStyle/>
          <a:p>
            <a:pPr indent="0" marL="0">
              <a:buNone/>
            </a:pPr>
            <a:r>
              <a:rPr lang="en-US" sz="2000" b="1" dirty="0">
                <a:solidFill>
                  <a:srgbClr val="2C7A4B"/>
                </a:solidFill>
                <a:latin typeface="Cambria" pitchFamily="34" charset="0"/>
                <a:ea typeface="Cambria" pitchFamily="34" charset="-122"/>
                <a:cs typeface="Cambria" pitchFamily="34" charset="-120"/>
              </a:rPr>
              <a:t>0</a:t>
            </a:r>
            <a:endParaRPr lang="en-US" sz="2000" dirty="0"/>
          </a:p>
        </p:txBody>
      </p:sp>
      <p:sp>
        <p:nvSpPr>
          <p:cNvPr id="15" name="Text 13"/>
          <p:cNvSpPr/>
          <p:nvPr/>
        </p:nvSpPr>
        <p:spPr>
          <a:xfrm>
            <a:off x="905256" y="5184648"/>
            <a:ext cx="2057400" cy="566928"/>
          </a:xfrm>
          <a:prstGeom prst="rect">
            <a:avLst/>
          </a:prstGeom>
          <a:noFill/>
          <a:ln/>
        </p:spPr>
        <p:txBody>
          <a:bodyPr wrap="square" lIns="0" tIns="0" rIns="0" bIns="0" rtlCol="0" anchor="ctr"/>
          <a:lstStyle/>
          <a:p>
            <a:pPr indent="0" marL="0">
              <a:buNone/>
            </a:pPr>
            <a:r>
              <a:rPr lang="en-US" sz="950" dirty="0">
                <a:solidFill>
                  <a:srgbClr val="5C6470"/>
                </a:solidFill>
                <a:latin typeface="Calibri" pitchFamily="34" charset="0"/>
                <a:ea typeface="Calibri" pitchFamily="34" charset="-122"/>
                <a:cs typeface="Calibri" pitchFamily="34" charset="-120"/>
              </a:rPr>
              <a:t>changes required in other</a:t>
            </a:r>
            <a:endParaRPr lang="en-US" sz="950" dirty="0"/>
          </a:p>
          <a:p>
            <a:pPr indent="0" marL="0">
              <a:buNone/>
            </a:pPr>
            <a:r>
              <a:rPr lang="en-US" sz="950" dirty="0">
                <a:solidFill>
                  <a:srgbClr val="5C6470"/>
                </a:solidFill>
                <a:latin typeface="Calibri" pitchFamily="34" charset="0"/>
                <a:ea typeface="Calibri" pitchFamily="34" charset="-122"/>
                <a:cs typeface="Calibri" pitchFamily="34" charset="-120"/>
              </a:rPr>
              <a:t>teams’ repos or pipelines</a:t>
            </a:r>
            <a:endParaRPr lang="en-US" sz="950" dirty="0"/>
          </a:p>
        </p:txBody>
      </p:sp>
      <p:sp>
        <p:nvSpPr>
          <p:cNvPr id="16" name="Shape 14"/>
          <p:cNvSpPr/>
          <p:nvPr/>
        </p:nvSpPr>
        <p:spPr>
          <a:xfrm>
            <a:off x="3291840" y="4709160"/>
            <a:ext cx="2286000" cy="1097280"/>
          </a:xfrm>
          <a:prstGeom prst="roundRect">
            <a:avLst>
              <a:gd name="adj" fmla="val 6667"/>
            </a:avLst>
          </a:prstGeom>
          <a:solidFill>
            <a:srgbClr val="FFFFFF"/>
          </a:solidFill>
          <a:ln w="12700">
            <a:solidFill>
              <a:srgbClr val="FFFFFF"/>
            </a:solidFill>
            <a:prstDash val="solid"/>
          </a:ln>
        </p:spPr>
      </p:sp>
      <p:sp>
        <p:nvSpPr>
          <p:cNvPr id="17" name="Text 15"/>
          <p:cNvSpPr/>
          <p:nvPr/>
        </p:nvSpPr>
        <p:spPr>
          <a:xfrm>
            <a:off x="3419856" y="4782312"/>
            <a:ext cx="2011680" cy="411480"/>
          </a:xfrm>
          <a:prstGeom prst="rect">
            <a:avLst/>
          </a:prstGeom>
          <a:noFill/>
          <a:ln/>
        </p:spPr>
        <p:txBody>
          <a:bodyPr wrap="square" lIns="0" tIns="0" rIns="0" bIns="0" rtlCol="0" anchor="ctr"/>
          <a:lstStyle/>
          <a:p>
            <a:pPr indent="0" marL="0">
              <a:buNone/>
            </a:pPr>
            <a:r>
              <a:rPr lang="en-US" sz="2000" b="1" dirty="0">
                <a:solidFill>
                  <a:srgbClr val="2C7A4B"/>
                </a:solidFill>
                <a:latin typeface="Cambria" pitchFamily="34" charset="0"/>
                <a:ea typeface="Cambria" pitchFamily="34" charset="-122"/>
                <a:cs typeface="Cambria" pitchFamily="34" charset="-120"/>
              </a:rPr>
              <a:t>≥ 95%</a:t>
            </a:r>
            <a:endParaRPr lang="en-US" sz="2000" dirty="0"/>
          </a:p>
        </p:txBody>
      </p:sp>
      <p:sp>
        <p:nvSpPr>
          <p:cNvPr id="18" name="Text 16"/>
          <p:cNvSpPr/>
          <p:nvPr/>
        </p:nvSpPr>
        <p:spPr>
          <a:xfrm>
            <a:off x="3419856" y="5184648"/>
            <a:ext cx="2057400" cy="566928"/>
          </a:xfrm>
          <a:prstGeom prst="rect">
            <a:avLst/>
          </a:prstGeom>
          <a:noFill/>
          <a:ln/>
        </p:spPr>
        <p:txBody>
          <a:bodyPr wrap="square" lIns="0" tIns="0" rIns="0" bIns="0" rtlCol="0" anchor="ctr"/>
          <a:lstStyle/>
          <a:p>
            <a:pPr indent="0" marL="0">
              <a:buNone/>
            </a:pPr>
            <a:r>
              <a:rPr lang="en-US" sz="950" dirty="0">
                <a:solidFill>
                  <a:srgbClr val="5C6470"/>
                </a:solidFill>
                <a:latin typeface="Calibri" pitchFamily="34" charset="0"/>
                <a:ea typeface="Calibri" pitchFamily="34" charset="-122"/>
                <a:cs typeface="Calibri" pitchFamily="34" charset="-120"/>
              </a:rPr>
              <a:t>of pages within their</a:t>
            </a:r>
            <a:endParaRPr lang="en-US" sz="950" dirty="0"/>
          </a:p>
          <a:p>
            <a:pPr indent="0" marL="0">
              <a:buNone/>
            </a:pPr>
            <a:r>
              <a:rPr lang="en-US" sz="950" dirty="0">
                <a:solidFill>
                  <a:srgbClr val="5C6470"/>
                </a:solidFill>
                <a:latin typeface="Calibri" pitchFamily="34" charset="0"/>
                <a:ea typeface="Calibri" pitchFamily="34" charset="-122"/>
                <a:cs typeface="Calibri" pitchFamily="34" charset="-120"/>
              </a:rPr>
              <a:t>freshness TTL (audited weekly)</a:t>
            </a:r>
            <a:endParaRPr lang="en-US" sz="950" dirty="0"/>
          </a:p>
        </p:txBody>
      </p:sp>
      <p:sp>
        <p:nvSpPr>
          <p:cNvPr id="19" name="Shape 17"/>
          <p:cNvSpPr/>
          <p:nvPr/>
        </p:nvSpPr>
        <p:spPr>
          <a:xfrm>
            <a:off x="6172200" y="1463040"/>
            <a:ext cx="5486400" cy="4663440"/>
          </a:xfrm>
          <a:prstGeom prst="roundRect">
            <a:avLst>
              <a:gd name="adj" fmla="val 1569"/>
            </a:avLst>
          </a:prstGeom>
          <a:solidFill>
            <a:srgbClr val="EEF4FB"/>
          </a:solidFill>
          <a:ln w="12700">
            <a:solidFill>
              <a:srgbClr val="EEF4FB"/>
            </a:solidFill>
            <a:prstDash val="solid"/>
          </a:ln>
        </p:spPr>
      </p:sp>
      <p:sp>
        <p:nvSpPr>
          <p:cNvPr id="20" name="Text 18"/>
          <p:cNvSpPr/>
          <p:nvPr/>
        </p:nvSpPr>
        <p:spPr>
          <a:xfrm>
            <a:off x="6446520" y="1664208"/>
            <a:ext cx="4937760" cy="36576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Trust: the human design always wins</a:t>
            </a:r>
            <a:endParaRPr lang="en-US" sz="1550" dirty="0"/>
          </a:p>
        </p:txBody>
      </p:sp>
      <p:sp>
        <p:nvSpPr>
          <p:cNvPr id="21" name="Text 19"/>
          <p:cNvSpPr/>
          <p:nvPr/>
        </p:nvSpPr>
        <p:spPr>
          <a:xfrm>
            <a:off x="6446520" y="2084832"/>
            <a:ext cx="4937760" cy="777240"/>
          </a:xfrm>
          <a:prstGeom prst="rect">
            <a:avLst/>
          </a:prstGeom>
          <a:noFill/>
          <a:ln/>
        </p:spPr>
        <p:txBody>
          <a:bodyPr wrap="square" lIns="0" tIns="0" rIns="0" bIns="0" rtlCol="0" anchor="ctr"/>
          <a:lstStyle/>
          <a:p>
            <a:pPr indent="0" marL="0">
              <a:buNone/>
            </a:pPr>
            <a:r>
              <a:rPr lang="en-US" sz="1200" dirty="0">
                <a:solidFill>
                  <a:srgbClr val="232838"/>
                </a:solidFill>
                <a:latin typeface="Calibri" pitchFamily="34" charset="0"/>
                <a:ea typeface="Calibri" pitchFamily="34" charset="-122"/>
                <a:cs typeface="Calibri" pitchFamily="34" charset="-120"/>
              </a:rPr>
              <a:t>When AI writes stories and plans, sources are consulted in strict priority — and anything not confirmed by the design document is visibly tagged for reviewers:</a:t>
            </a:r>
            <a:endParaRPr lang="en-US" sz="1200" dirty="0"/>
          </a:p>
        </p:txBody>
      </p:sp>
      <p:sp>
        <p:nvSpPr>
          <p:cNvPr id="22" name="Shape 20"/>
          <p:cNvSpPr/>
          <p:nvPr/>
        </p:nvSpPr>
        <p:spPr>
          <a:xfrm>
            <a:off x="6492240" y="3072384"/>
            <a:ext cx="310896" cy="310896"/>
          </a:xfrm>
          <a:prstGeom prst="ellipse">
            <a:avLst/>
          </a:prstGeom>
          <a:solidFill>
            <a:srgbClr val="2C7A4B"/>
          </a:solidFill>
          <a:ln/>
        </p:spPr>
      </p:sp>
      <p:sp>
        <p:nvSpPr>
          <p:cNvPr id="23" name="Text 21"/>
          <p:cNvSpPr/>
          <p:nvPr/>
        </p:nvSpPr>
        <p:spPr>
          <a:xfrm>
            <a:off x="6464808" y="3054096"/>
            <a:ext cx="3657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4" name="Text 22"/>
          <p:cNvSpPr/>
          <p:nvPr/>
        </p:nvSpPr>
        <p:spPr>
          <a:xfrm>
            <a:off x="6967728" y="3017520"/>
            <a:ext cx="4480560" cy="301752"/>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The human design document (TDD)</a:t>
            </a:r>
            <a:endParaRPr lang="en-US" sz="1250" dirty="0"/>
          </a:p>
        </p:txBody>
      </p:sp>
      <p:sp>
        <p:nvSpPr>
          <p:cNvPr id="25" name="Text 23"/>
          <p:cNvSpPr/>
          <p:nvPr/>
        </p:nvSpPr>
        <p:spPr>
          <a:xfrm>
            <a:off x="6967728" y="3328416"/>
            <a:ext cx="4480560" cy="320040"/>
          </a:xfrm>
          <a:prstGeom prst="rect">
            <a:avLst/>
          </a:prstGeom>
          <a:noFill/>
          <a:ln/>
        </p:spPr>
        <p:txBody>
          <a:bodyPr wrap="square" lIns="0" tIns="0" rIns="0" bIns="0" rtlCol="0" anchor="ctr"/>
          <a:lstStyle/>
          <a:p>
            <a:pPr indent="0" marL="0">
              <a:buNone/>
            </a:pPr>
            <a:r>
              <a:rPr lang="en-US" sz="1100" dirty="0">
                <a:solidFill>
                  <a:srgbClr val="5C6470"/>
                </a:solidFill>
                <a:latin typeface="Calibri" pitchFamily="34" charset="0"/>
                <a:ea typeface="Calibri" pitchFamily="34" charset="-122"/>
                <a:cs typeface="Calibri" pitchFamily="34" charset="-120"/>
              </a:rPr>
              <a:t>always wins; never overridden</a:t>
            </a:r>
            <a:endParaRPr lang="en-US" sz="1100" dirty="0"/>
          </a:p>
        </p:txBody>
      </p:sp>
      <p:sp>
        <p:nvSpPr>
          <p:cNvPr id="26" name="Shape 24"/>
          <p:cNvSpPr/>
          <p:nvPr/>
        </p:nvSpPr>
        <p:spPr>
          <a:xfrm>
            <a:off x="6492240" y="3913632"/>
            <a:ext cx="310896" cy="310896"/>
          </a:xfrm>
          <a:prstGeom prst="ellipse">
            <a:avLst/>
          </a:prstGeom>
          <a:solidFill>
            <a:srgbClr val="1D4E89"/>
          </a:solidFill>
          <a:ln/>
        </p:spPr>
      </p:sp>
      <p:sp>
        <p:nvSpPr>
          <p:cNvPr id="27" name="Text 25"/>
          <p:cNvSpPr/>
          <p:nvPr/>
        </p:nvSpPr>
        <p:spPr>
          <a:xfrm>
            <a:off x="6464808" y="3895344"/>
            <a:ext cx="3657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8" name="Text 26"/>
          <p:cNvSpPr/>
          <p:nvPr/>
        </p:nvSpPr>
        <p:spPr>
          <a:xfrm>
            <a:off x="6967728" y="3858768"/>
            <a:ext cx="4480560" cy="301752"/>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Exact KB contracts (via MCP)</a:t>
            </a:r>
            <a:endParaRPr lang="en-US" sz="1250" dirty="0"/>
          </a:p>
        </p:txBody>
      </p:sp>
      <p:sp>
        <p:nvSpPr>
          <p:cNvPr id="29" name="Text 27"/>
          <p:cNvSpPr/>
          <p:nvPr/>
        </p:nvSpPr>
        <p:spPr>
          <a:xfrm>
            <a:off x="6967728" y="4169664"/>
            <a:ext cx="4480560" cy="320040"/>
          </a:xfrm>
          <a:prstGeom prst="rect">
            <a:avLst/>
          </a:prstGeom>
          <a:noFill/>
          <a:ln/>
        </p:spPr>
        <p:txBody>
          <a:bodyPr wrap="square" lIns="0" tIns="0" rIns="0" bIns="0" rtlCol="0" anchor="ctr"/>
          <a:lstStyle/>
          <a:p>
            <a:pPr indent="0" marL="0">
              <a:buNone/>
            </a:pPr>
            <a:r>
              <a:rPr lang="en-US" sz="1100" dirty="0">
                <a:solidFill>
                  <a:srgbClr val="5C6470"/>
                </a:solidFill>
                <a:latin typeface="Calibri" pitchFamily="34" charset="0"/>
                <a:ea typeface="Calibri" pitchFamily="34" charset="-122"/>
                <a:cs typeface="Calibri" pitchFamily="34" charset="-120"/>
              </a:rPr>
              <a:t>fills schemas, error codes, dependencies</a:t>
            </a:r>
            <a:endParaRPr lang="en-US" sz="1100" dirty="0"/>
          </a:p>
        </p:txBody>
      </p:sp>
      <p:sp>
        <p:nvSpPr>
          <p:cNvPr id="30" name="Shape 28"/>
          <p:cNvSpPr/>
          <p:nvPr/>
        </p:nvSpPr>
        <p:spPr>
          <a:xfrm>
            <a:off x="6492240" y="4754880"/>
            <a:ext cx="310896" cy="310896"/>
          </a:xfrm>
          <a:prstGeom prst="ellipse">
            <a:avLst/>
          </a:prstGeom>
          <a:solidFill>
            <a:srgbClr val="4F3A9E"/>
          </a:solidFill>
          <a:ln/>
        </p:spPr>
      </p:sp>
      <p:sp>
        <p:nvSpPr>
          <p:cNvPr id="31" name="Text 29"/>
          <p:cNvSpPr/>
          <p:nvPr/>
        </p:nvSpPr>
        <p:spPr>
          <a:xfrm>
            <a:off x="6464808" y="4736592"/>
            <a:ext cx="3657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2" name="Text 30"/>
          <p:cNvSpPr/>
          <p:nvPr/>
        </p:nvSpPr>
        <p:spPr>
          <a:xfrm>
            <a:off x="6967728" y="4700016"/>
            <a:ext cx="4480560" cy="301752"/>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KB pages &amp; search context</a:t>
            </a:r>
            <a:endParaRPr lang="en-US" sz="1250" dirty="0"/>
          </a:p>
        </p:txBody>
      </p:sp>
      <p:sp>
        <p:nvSpPr>
          <p:cNvPr id="33" name="Text 31"/>
          <p:cNvSpPr/>
          <p:nvPr/>
        </p:nvSpPr>
        <p:spPr>
          <a:xfrm>
            <a:off x="6967728" y="5010912"/>
            <a:ext cx="4480560" cy="320040"/>
          </a:xfrm>
          <a:prstGeom prst="rect">
            <a:avLst/>
          </a:prstGeom>
          <a:noFill/>
          <a:ln/>
        </p:spPr>
        <p:txBody>
          <a:bodyPr wrap="square" lIns="0" tIns="0" rIns="0" bIns="0" rtlCol="0" anchor="ctr"/>
          <a:lstStyle/>
          <a:p>
            <a:pPr indent="0" marL="0">
              <a:buNone/>
            </a:pPr>
            <a:r>
              <a:rPr lang="en-US" sz="1100" dirty="0">
                <a:solidFill>
                  <a:srgbClr val="5C6470"/>
                </a:solidFill>
                <a:latin typeface="Calibri" pitchFamily="34" charset="0"/>
                <a:ea typeface="Calibri" pitchFamily="34" charset="-122"/>
                <a:cs typeface="Calibri" pitchFamily="34" charset="-120"/>
              </a:rPr>
              <a:t>enrichment — tagged ⚠ KB-INFERRED</a:t>
            </a:r>
            <a:endParaRPr lang="en-US" sz="1100" dirty="0"/>
          </a:p>
        </p:txBody>
      </p:sp>
      <p:sp>
        <p:nvSpPr>
          <p:cNvPr id="34" name="Shape 32"/>
          <p:cNvSpPr/>
          <p:nvPr/>
        </p:nvSpPr>
        <p:spPr>
          <a:xfrm>
            <a:off x="6446520" y="5486400"/>
            <a:ext cx="4937760" cy="502920"/>
          </a:xfrm>
          <a:prstGeom prst="roundRect">
            <a:avLst>
              <a:gd name="adj" fmla="val 14545"/>
            </a:avLst>
          </a:prstGeom>
          <a:solidFill>
            <a:srgbClr val="FFFFFF"/>
          </a:solidFill>
          <a:ln w="12700">
            <a:solidFill>
              <a:srgbClr val="FFFFFF"/>
            </a:solidFill>
            <a:prstDash val="solid"/>
          </a:ln>
        </p:spPr>
      </p:sp>
      <p:sp>
        <p:nvSpPr>
          <p:cNvPr id="35" name="Text 33"/>
          <p:cNvSpPr/>
          <p:nvPr/>
        </p:nvSpPr>
        <p:spPr>
          <a:xfrm>
            <a:off x="6583680" y="5486400"/>
            <a:ext cx="4754880" cy="502920"/>
          </a:xfrm>
          <a:prstGeom prst="rect">
            <a:avLst/>
          </a:prstGeom>
          <a:noFill/>
          <a:ln/>
        </p:spPr>
        <p:txBody>
          <a:bodyPr wrap="square" lIns="0" tIns="0" rIns="0" bIns="0" rtlCol="0" anchor="ctr"/>
          <a:lstStyle/>
          <a:p>
            <a:pPr indent="0" marL="0">
              <a:buNone/>
            </a:pPr>
            <a:r>
              <a:rPr lang="en-US" sz="1100" i="1" dirty="0">
                <a:solidFill>
                  <a:srgbClr val="232838"/>
                </a:solidFill>
                <a:latin typeface="Calibri" pitchFamily="34" charset="0"/>
                <a:ea typeface="Calibri" pitchFamily="34" charset="-122"/>
                <a:cs typeface="Calibri" pitchFamily="34" charset="-120"/>
              </a:rPr>
              <a:t>Gaps in both are flagged “GAP” for the architect — nothing silent, nothing invented.</a:t>
            </a:r>
            <a:endParaRPr lang="en-US" sz="1100" dirty="0"/>
          </a:p>
        </p:txBody>
      </p:sp>
      <p:sp>
        <p:nvSpPr>
          <p:cNvPr id="36" name="Text 34"/>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5C6470"/>
                </a:solidFill>
                <a:latin typeface="Calibri" pitchFamily="34" charset="0"/>
                <a:ea typeface="Calibri" pitchFamily="34" charset="-122"/>
                <a:cs typeface="Calibri" pitchFamily="34" charset="-120"/>
              </a:rPr>
              <a:t>Commerce Knowledge Base — Architecture Briefing</a:t>
            </a:r>
            <a:endParaRPr lang="en-US" sz="900" dirty="0"/>
          </a:p>
        </p:txBody>
      </p:sp>
      <p:sp>
        <p:nvSpPr>
          <p:cNvPr id="37" name="Text 35"/>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5C64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200" kern="0" dirty="0">
                <a:solidFill>
                  <a:srgbClr val="8A5F00"/>
                </a:solidFill>
                <a:latin typeface="Calibri" pitchFamily="34" charset="0"/>
                <a:ea typeface="Calibri" pitchFamily="34" charset="-122"/>
                <a:cs typeface="Calibri" pitchFamily="34" charset="-120"/>
              </a:rPr>
              <a:t>PROOF, NOT PROMISES</a:t>
            </a:r>
            <a:endParaRPr lang="en-US" sz="1100" dirty="0"/>
          </a:p>
        </p:txBody>
      </p:sp>
      <p:sp>
        <p:nvSpPr>
          <p:cNvPr id="3" name="Text 1"/>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knowledge base takes five continuous exams</a:t>
            </a:r>
            <a:endParaRPr lang="en-US" sz="3000" dirty="0"/>
          </a:p>
        </p:txBody>
      </p:sp>
      <p:sp>
        <p:nvSpPr>
          <p:cNvPr id="4" name="Shape 2"/>
          <p:cNvSpPr/>
          <p:nvPr/>
        </p:nvSpPr>
        <p:spPr>
          <a:xfrm>
            <a:off x="502920" y="1554480"/>
            <a:ext cx="2084832" cy="2743200"/>
          </a:xfrm>
          <a:prstGeom prst="roundRect">
            <a:avLst>
              <a:gd name="adj" fmla="val 3509"/>
            </a:avLst>
          </a:prstGeom>
          <a:solidFill>
            <a:srgbClr val="EEF4FB"/>
          </a:solidFill>
          <a:ln w="12700">
            <a:solidFill>
              <a:srgbClr val="EEF4FB"/>
            </a:solidFill>
            <a:prstDash val="solid"/>
          </a:ln>
        </p:spPr>
      </p:sp>
      <p:sp>
        <p:nvSpPr>
          <p:cNvPr id="5" name="Shape 3"/>
          <p:cNvSpPr/>
          <p:nvPr/>
        </p:nvSpPr>
        <p:spPr>
          <a:xfrm>
            <a:off x="649224" y="1719072"/>
            <a:ext cx="457200" cy="457200"/>
          </a:xfrm>
          <a:prstGeom prst="ellipse">
            <a:avLst/>
          </a:prstGeom>
          <a:solidFill>
            <a:srgbClr val="F0A500"/>
          </a:solidFill>
          <a:ln/>
        </p:spPr>
      </p:sp>
      <p:sp>
        <p:nvSpPr>
          <p:cNvPr id="6" name="Text 4"/>
          <p:cNvSpPr/>
          <p:nvPr/>
        </p:nvSpPr>
        <p:spPr>
          <a:xfrm>
            <a:off x="621792" y="1737360"/>
            <a:ext cx="512064"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E1</a:t>
            </a:r>
            <a:endParaRPr lang="en-US" sz="1300" dirty="0"/>
          </a:p>
        </p:txBody>
      </p:sp>
      <p:sp>
        <p:nvSpPr>
          <p:cNvPr id="7" name="Text 5"/>
          <p:cNvSpPr/>
          <p:nvPr/>
        </p:nvSpPr>
        <p:spPr>
          <a:xfrm>
            <a:off x="649224" y="2286000"/>
            <a:ext cx="182880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Ground truth</a:t>
            </a:r>
            <a:endParaRPr lang="en-US" sz="1350" dirty="0"/>
          </a:p>
        </p:txBody>
      </p:sp>
      <p:sp>
        <p:nvSpPr>
          <p:cNvPr id="8" name="Text 6"/>
          <p:cNvSpPr/>
          <p:nvPr/>
        </p:nvSpPr>
        <p:spPr>
          <a:xfrm>
            <a:off x="649224" y="2633472"/>
            <a:ext cx="1810512" cy="1554480"/>
          </a:xfrm>
          <a:prstGeom prst="rect">
            <a:avLst/>
          </a:prstGeom>
          <a:noFill/>
          <a:ln/>
        </p:spPr>
        <p:txBody>
          <a:bodyPr wrap="square" lIns="0" tIns="0" rIns="0" bIns="0" rtlCol="0" anchor="ctr"/>
          <a:lstStyle/>
          <a:p>
            <a:pPr indent="0" marL="0">
              <a:buNone/>
            </a:pPr>
            <a:r>
              <a:rPr lang="en-US" sz="1050" dirty="0">
                <a:solidFill>
                  <a:srgbClr val="232838"/>
                </a:solidFill>
                <a:latin typeface="Calibri" pitchFamily="34" charset="0"/>
                <a:ea typeface="Calibri" pitchFamily="34" charset="-122"/>
                <a:cs typeface="Calibri" pitchFamily="34" charset="-120"/>
              </a:rPr>
              <a:t>Exam questions are generated from the pages themselves — hundreds of question→known-answer pairs for about $1.</a:t>
            </a:r>
            <a:endParaRPr lang="en-US" sz="1050" dirty="0"/>
          </a:p>
        </p:txBody>
      </p:sp>
      <p:sp>
        <p:nvSpPr>
          <p:cNvPr id="9" name="Shape 7"/>
          <p:cNvSpPr/>
          <p:nvPr/>
        </p:nvSpPr>
        <p:spPr>
          <a:xfrm>
            <a:off x="2807208" y="1554480"/>
            <a:ext cx="2084832" cy="2743200"/>
          </a:xfrm>
          <a:prstGeom prst="roundRect">
            <a:avLst>
              <a:gd name="adj" fmla="val 3509"/>
            </a:avLst>
          </a:prstGeom>
          <a:solidFill>
            <a:srgbClr val="EEF4FB"/>
          </a:solidFill>
          <a:ln w="12700">
            <a:solidFill>
              <a:srgbClr val="EEF4FB"/>
            </a:solidFill>
            <a:prstDash val="solid"/>
          </a:ln>
        </p:spPr>
      </p:sp>
      <p:sp>
        <p:nvSpPr>
          <p:cNvPr id="10" name="Shape 8"/>
          <p:cNvSpPr/>
          <p:nvPr/>
        </p:nvSpPr>
        <p:spPr>
          <a:xfrm>
            <a:off x="2953512" y="1719072"/>
            <a:ext cx="457200" cy="457200"/>
          </a:xfrm>
          <a:prstGeom prst="ellipse">
            <a:avLst/>
          </a:prstGeom>
          <a:solidFill>
            <a:srgbClr val="2C7A4B"/>
          </a:solidFill>
          <a:ln/>
        </p:spPr>
      </p:sp>
      <p:sp>
        <p:nvSpPr>
          <p:cNvPr id="11" name="Text 9"/>
          <p:cNvSpPr/>
          <p:nvPr/>
        </p:nvSpPr>
        <p:spPr>
          <a:xfrm>
            <a:off x="2926080" y="1737360"/>
            <a:ext cx="512064"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E2</a:t>
            </a:r>
            <a:endParaRPr lang="en-US" sz="1300" dirty="0"/>
          </a:p>
        </p:txBody>
      </p:sp>
      <p:sp>
        <p:nvSpPr>
          <p:cNvPr id="12" name="Text 10"/>
          <p:cNvSpPr/>
          <p:nvPr/>
        </p:nvSpPr>
        <p:spPr>
          <a:xfrm>
            <a:off x="2953512" y="2286000"/>
            <a:ext cx="182880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Retrieval</a:t>
            </a:r>
            <a:endParaRPr lang="en-US" sz="1350" dirty="0"/>
          </a:p>
        </p:txBody>
      </p:sp>
      <p:sp>
        <p:nvSpPr>
          <p:cNvPr id="13" name="Text 11"/>
          <p:cNvSpPr/>
          <p:nvPr/>
        </p:nvSpPr>
        <p:spPr>
          <a:xfrm>
            <a:off x="2953512" y="2633472"/>
            <a:ext cx="1810512" cy="1554480"/>
          </a:xfrm>
          <a:prstGeom prst="rect">
            <a:avLst/>
          </a:prstGeom>
          <a:noFill/>
          <a:ln/>
        </p:spPr>
        <p:txBody>
          <a:bodyPr wrap="square" lIns="0" tIns="0" rIns="0" bIns="0" rtlCol="0" anchor="ctr"/>
          <a:lstStyle/>
          <a:p>
            <a:pPr indent="0" marL="0">
              <a:buNone/>
            </a:pPr>
            <a:r>
              <a:rPr lang="en-US" sz="1050" dirty="0">
                <a:solidFill>
                  <a:srgbClr val="232838"/>
                </a:solidFill>
                <a:latin typeface="Calibri" pitchFamily="34" charset="0"/>
                <a:ea typeface="Calibri" pitchFamily="34" charset="-122"/>
                <a:cs typeface="Calibri" pitchFamily="34" charset="-120"/>
              </a:rPr>
              <a:t>Does search find the right page? Recall and ranking metrics gate every pull request. $0 to run — pure arithmetic.</a:t>
            </a:r>
            <a:endParaRPr lang="en-US" sz="1050" dirty="0"/>
          </a:p>
        </p:txBody>
      </p:sp>
      <p:sp>
        <p:nvSpPr>
          <p:cNvPr id="14" name="Shape 12"/>
          <p:cNvSpPr/>
          <p:nvPr/>
        </p:nvSpPr>
        <p:spPr>
          <a:xfrm>
            <a:off x="5111496" y="1554480"/>
            <a:ext cx="2084832" cy="2743200"/>
          </a:xfrm>
          <a:prstGeom prst="roundRect">
            <a:avLst>
              <a:gd name="adj" fmla="val 3509"/>
            </a:avLst>
          </a:prstGeom>
          <a:solidFill>
            <a:srgbClr val="EEF4FB"/>
          </a:solidFill>
          <a:ln w="12700">
            <a:solidFill>
              <a:srgbClr val="EEF4FB"/>
            </a:solidFill>
            <a:prstDash val="solid"/>
          </a:ln>
        </p:spPr>
      </p:sp>
      <p:sp>
        <p:nvSpPr>
          <p:cNvPr id="15" name="Shape 13"/>
          <p:cNvSpPr/>
          <p:nvPr/>
        </p:nvSpPr>
        <p:spPr>
          <a:xfrm>
            <a:off x="5257800" y="1719072"/>
            <a:ext cx="457200" cy="457200"/>
          </a:xfrm>
          <a:prstGeom prst="ellipse">
            <a:avLst/>
          </a:prstGeom>
          <a:solidFill>
            <a:srgbClr val="4F3A9E"/>
          </a:solidFill>
          <a:ln/>
        </p:spPr>
      </p:sp>
      <p:sp>
        <p:nvSpPr>
          <p:cNvPr id="16" name="Text 14"/>
          <p:cNvSpPr/>
          <p:nvPr/>
        </p:nvSpPr>
        <p:spPr>
          <a:xfrm>
            <a:off x="5230368" y="1737360"/>
            <a:ext cx="512064"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E3</a:t>
            </a:r>
            <a:endParaRPr lang="en-US" sz="1300" dirty="0"/>
          </a:p>
        </p:txBody>
      </p:sp>
      <p:sp>
        <p:nvSpPr>
          <p:cNvPr id="17" name="Text 15"/>
          <p:cNvSpPr/>
          <p:nvPr/>
        </p:nvSpPr>
        <p:spPr>
          <a:xfrm>
            <a:off x="5257800" y="2286000"/>
            <a:ext cx="182880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Answer quality</a:t>
            </a:r>
            <a:endParaRPr lang="en-US" sz="1350" dirty="0"/>
          </a:p>
        </p:txBody>
      </p:sp>
      <p:sp>
        <p:nvSpPr>
          <p:cNvPr id="18" name="Text 16"/>
          <p:cNvSpPr/>
          <p:nvPr/>
        </p:nvSpPr>
        <p:spPr>
          <a:xfrm>
            <a:off x="5257800" y="2633472"/>
            <a:ext cx="1810512" cy="1554480"/>
          </a:xfrm>
          <a:prstGeom prst="rect">
            <a:avLst/>
          </a:prstGeom>
          <a:noFill/>
          <a:ln/>
        </p:spPr>
        <p:txBody>
          <a:bodyPr wrap="square" lIns="0" tIns="0" rIns="0" bIns="0" rtlCol="0" anchor="ctr"/>
          <a:lstStyle/>
          <a:p>
            <a:pPr indent="0" marL="0">
              <a:buNone/>
            </a:pPr>
            <a:r>
              <a:rPr lang="en-US" sz="1050" dirty="0">
                <a:solidFill>
                  <a:srgbClr val="232838"/>
                </a:solidFill>
                <a:latin typeface="Calibri" pitchFamily="34" charset="0"/>
                <a:ea typeface="Calibri" pitchFamily="34" charset="-122"/>
                <a:cs typeface="Calibri" pitchFamily="34" charset="-120"/>
              </a:rPr>
              <a:t>An AI judge grades answers — required to write its reasoning before its verdict, and calibrated against human review.</a:t>
            </a:r>
            <a:endParaRPr lang="en-US" sz="1050" dirty="0"/>
          </a:p>
        </p:txBody>
      </p:sp>
      <p:sp>
        <p:nvSpPr>
          <p:cNvPr id="19" name="Shape 17"/>
          <p:cNvSpPr/>
          <p:nvPr/>
        </p:nvSpPr>
        <p:spPr>
          <a:xfrm>
            <a:off x="7415784" y="1554480"/>
            <a:ext cx="2084832" cy="2743200"/>
          </a:xfrm>
          <a:prstGeom prst="roundRect">
            <a:avLst>
              <a:gd name="adj" fmla="val 3509"/>
            </a:avLst>
          </a:prstGeom>
          <a:solidFill>
            <a:srgbClr val="EEF4FB"/>
          </a:solidFill>
          <a:ln w="12700">
            <a:solidFill>
              <a:srgbClr val="EEF4FB"/>
            </a:solidFill>
            <a:prstDash val="solid"/>
          </a:ln>
        </p:spPr>
      </p:sp>
      <p:sp>
        <p:nvSpPr>
          <p:cNvPr id="20" name="Shape 18"/>
          <p:cNvSpPr/>
          <p:nvPr/>
        </p:nvSpPr>
        <p:spPr>
          <a:xfrm>
            <a:off x="7562088" y="1719072"/>
            <a:ext cx="457200" cy="457200"/>
          </a:xfrm>
          <a:prstGeom prst="ellipse">
            <a:avLst/>
          </a:prstGeom>
          <a:solidFill>
            <a:srgbClr val="1D4E89"/>
          </a:solidFill>
          <a:ln/>
        </p:spPr>
      </p:sp>
      <p:sp>
        <p:nvSpPr>
          <p:cNvPr id="21" name="Text 19"/>
          <p:cNvSpPr/>
          <p:nvPr/>
        </p:nvSpPr>
        <p:spPr>
          <a:xfrm>
            <a:off x="7534656" y="1737360"/>
            <a:ext cx="512064"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E4</a:t>
            </a:r>
            <a:endParaRPr lang="en-US" sz="1300" dirty="0"/>
          </a:p>
        </p:txBody>
      </p:sp>
      <p:sp>
        <p:nvSpPr>
          <p:cNvPr id="22" name="Text 20"/>
          <p:cNvSpPr/>
          <p:nvPr/>
        </p:nvSpPr>
        <p:spPr>
          <a:xfrm>
            <a:off x="7562088" y="2286000"/>
            <a:ext cx="182880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Fact fidelity</a:t>
            </a:r>
            <a:endParaRPr lang="en-US" sz="1350" dirty="0"/>
          </a:p>
        </p:txBody>
      </p:sp>
      <p:sp>
        <p:nvSpPr>
          <p:cNvPr id="23" name="Text 21"/>
          <p:cNvSpPr/>
          <p:nvPr/>
        </p:nvSpPr>
        <p:spPr>
          <a:xfrm>
            <a:off x="7562088" y="2633472"/>
            <a:ext cx="1810512" cy="1554480"/>
          </a:xfrm>
          <a:prstGeom prst="rect">
            <a:avLst/>
          </a:prstGeom>
          <a:noFill/>
          <a:ln/>
        </p:spPr>
        <p:txBody>
          <a:bodyPr wrap="square" lIns="0" tIns="0" rIns="0" bIns="0" rtlCol="0" anchor="ctr"/>
          <a:lstStyle/>
          <a:p>
            <a:pPr indent="0" marL="0">
              <a:buNone/>
            </a:pPr>
            <a:r>
              <a:rPr lang="en-US" sz="1050" dirty="0">
                <a:solidFill>
                  <a:srgbClr val="232838"/>
                </a:solidFill>
                <a:latin typeface="Calibri" pitchFamily="34" charset="0"/>
                <a:ea typeface="Calibri" pitchFamily="34" charset="-122"/>
                <a:cs typeface="Calibri" pitchFamily="34" charset="-120"/>
              </a:rPr>
              <a:t>Machine-readable specs are parsed deterministically (nothing to mis-read); quarterly human spot-checks cover the rest.</a:t>
            </a:r>
            <a:endParaRPr lang="en-US" sz="1050" dirty="0"/>
          </a:p>
        </p:txBody>
      </p:sp>
      <p:sp>
        <p:nvSpPr>
          <p:cNvPr id="24" name="Shape 22"/>
          <p:cNvSpPr/>
          <p:nvPr/>
        </p:nvSpPr>
        <p:spPr>
          <a:xfrm>
            <a:off x="9720072" y="1554480"/>
            <a:ext cx="2084832" cy="2743200"/>
          </a:xfrm>
          <a:prstGeom prst="roundRect">
            <a:avLst>
              <a:gd name="adj" fmla="val 3509"/>
            </a:avLst>
          </a:prstGeom>
          <a:solidFill>
            <a:srgbClr val="EEF4FB"/>
          </a:solidFill>
          <a:ln w="12700">
            <a:solidFill>
              <a:srgbClr val="EEF4FB"/>
            </a:solidFill>
            <a:prstDash val="solid"/>
          </a:ln>
        </p:spPr>
      </p:sp>
      <p:sp>
        <p:nvSpPr>
          <p:cNvPr id="25" name="Shape 23"/>
          <p:cNvSpPr/>
          <p:nvPr/>
        </p:nvSpPr>
        <p:spPr>
          <a:xfrm>
            <a:off x="9866376" y="1719072"/>
            <a:ext cx="457200" cy="457200"/>
          </a:xfrm>
          <a:prstGeom prst="ellipse">
            <a:avLst/>
          </a:prstGeom>
          <a:solidFill>
            <a:srgbClr val="5C6470"/>
          </a:solidFill>
          <a:ln/>
        </p:spPr>
      </p:sp>
      <p:sp>
        <p:nvSpPr>
          <p:cNvPr id="26" name="Text 24"/>
          <p:cNvSpPr/>
          <p:nvPr/>
        </p:nvSpPr>
        <p:spPr>
          <a:xfrm>
            <a:off x="9838944" y="1737360"/>
            <a:ext cx="512064"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E5</a:t>
            </a:r>
            <a:endParaRPr lang="en-US" sz="1300" dirty="0"/>
          </a:p>
        </p:txBody>
      </p:sp>
      <p:sp>
        <p:nvSpPr>
          <p:cNvPr id="27" name="Text 25"/>
          <p:cNvSpPr/>
          <p:nvPr/>
        </p:nvSpPr>
        <p:spPr>
          <a:xfrm>
            <a:off x="9866376" y="2286000"/>
            <a:ext cx="182880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Agent behavior</a:t>
            </a:r>
            <a:endParaRPr lang="en-US" sz="1350" dirty="0"/>
          </a:p>
        </p:txBody>
      </p:sp>
      <p:sp>
        <p:nvSpPr>
          <p:cNvPr id="28" name="Text 26"/>
          <p:cNvSpPr/>
          <p:nvPr/>
        </p:nvSpPr>
        <p:spPr>
          <a:xfrm>
            <a:off x="9866376" y="2633472"/>
            <a:ext cx="1810512" cy="1554480"/>
          </a:xfrm>
          <a:prstGeom prst="rect">
            <a:avLst/>
          </a:prstGeom>
          <a:noFill/>
          <a:ln/>
        </p:spPr>
        <p:txBody>
          <a:bodyPr wrap="square" lIns="0" tIns="0" rIns="0" bIns="0" rtlCol="0" anchor="ctr"/>
          <a:lstStyle/>
          <a:p>
            <a:pPr indent="0" marL="0">
              <a:buNone/>
            </a:pPr>
            <a:r>
              <a:rPr lang="en-US" sz="1050" dirty="0">
                <a:solidFill>
                  <a:srgbClr val="232838"/>
                </a:solidFill>
                <a:latin typeface="Calibri" pitchFamily="34" charset="0"/>
                <a:ea typeface="Calibri" pitchFamily="34" charset="-122"/>
                <a:cs typeface="Calibri" pitchFamily="34" charset="-120"/>
              </a:rPr>
              <a:t>Every tool call is logged today; agent tool-use gets graded the day agents choose tools freely.</a:t>
            </a:r>
            <a:endParaRPr lang="en-US" sz="1050" dirty="0"/>
          </a:p>
        </p:txBody>
      </p:sp>
      <p:sp>
        <p:nvSpPr>
          <p:cNvPr id="29" name="Shape 27"/>
          <p:cNvSpPr/>
          <p:nvPr/>
        </p:nvSpPr>
        <p:spPr>
          <a:xfrm>
            <a:off x="502920" y="4572000"/>
            <a:ext cx="5440680" cy="1554480"/>
          </a:xfrm>
          <a:prstGeom prst="roundRect">
            <a:avLst>
              <a:gd name="adj" fmla="val 4706"/>
            </a:avLst>
          </a:prstGeom>
          <a:solidFill>
            <a:srgbClr val="FBE9E6"/>
          </a:solidFill>
          <a:ln w="12700">
            <a:solidFill>
              <a:srgbClr val="A83226"/>
            </a:solidFill>
            <a:prstDash val="solid"/>
          </a:ln>
        </p:spPr>
      </p:sp>
      <p:sp>
        <p:nvSpPr>
          <p:cNvPr id="30" name="Text 28"/>
          <p:cNvSpPr/>
          <p:nvPr/>
        </p:nvSpPr>
        <p:spPr>
          <a:xfrm>
            <a:off x="777240" y="4736592"/>
            <a:ext cx="4937760" cy="320040"/>
          </a:xfrm>
          <a:prstGeom prst="rect">
            <a:avLst/>
          </a:prstGeom>
          <a:noFill/>
          <a:ln/>
        </p:spPr>
        <p:txBody>
          <a:bodyPr wrap="square" lIns="0" tIns="0" rIns="0" bIns="0" rtlCol="0" anchor="ctr"/>
          <a:lstStyle/>
          <a:p>
            <a:pPr indent="0" marL="0">
              <a:buNone/>
            </a:pPr>
            <a:r>
              <a:rPr lang="en-US" sz="1450" b="1" dirty="0">
                <a:solidFill>
                  <a:srgbClr val="A83226"/>
                </a:solidFill>
                <a:latin typeface="Calibri" pitchFamily="34" charset="0"/>
                <a:ea typeface="Calibri" pitchFamily="34" charset="-122"/>
                <a:cs typeface="Calibri" pitchFamily="34" charset="-120"/>
              </a:rPr>
              <a:t>A perfect score is a red flag</a:t>
            </a:r>
            <a:endParaRPr lang="en-US" sz="1450" dirty="0"/>
          </a:p>
        </p:txBody>
      </p:sp>
      <p:sp>
        <p:nvSpPr>
          <p:cNvPr id="31" name="Text 29"/>
          <p:cNvSpPr/>
          <p:nvPr/>
        </p:nvSpPr>
        <p:spPr>
          <a:xfrm>
            <a:off x="777240" y="5084064"/>
            <a:ext cx="4937760" cy="960120"/>
          </a:xfrm>
          <a:prstGeom prst="rect">
            <a:avLst/>
          </a:prstGeom>
          <a:noFill/>
          <a:ln/>
        </p:spPr>
        <p:txBody>
          <a:bodyPr wrap="square" lIns="0" tIns="0" rIns="0" bIns="0" rtlCol="0" anchor="ctr"/>
          <a:lstStyle/>
          <a:p>
            <a:pPr indent="0" marL="0">
              <a:buNone/>
            </a:pPr>
            <a:r>
              <a:rPr lang="en-US" sz="1150" dirty="0">
                <a:solidFill>
                  <a:srgbClr val="232838"/>
                </a:solidFill>
                <a:latin typeface="Calibri" pitchFamily="34" charset="0"/>
                <a:ea typeface="Calibri" pitchFamily="34" charset="-122"/>
                <a:cs typeface="Calibri" pitchFamily="34" charset="-120"/>
              </a:rPr>
              <a:t>Our first suite scored 100% — which means it could no longer catch regressions. We rebuilt the exam to be harder on purpose. Lower honest numbers protect us; perfect ones don’t.</a:t>
            </a:r>
            <a:endParaRPr lang="en-US" sz="1150" dirty="0"/>
          </a:p>
        </p:txBody>
      </p:sp>
      <p:sp>
        <p:nvSpPr>
          <p:cNvPr id="32" name="Shape 30"/>
          <p:cNvSpPr/>
          <p:nvPr/>
        </p:nvSpPr>
        <p:spPr>
          <a:xfrm>
            <a:off x="6217920" y="4572000"/>
            <a:ext cx="5440680" cy="1554480"/>
          </a:xfrm>
          <a:prstGeom prst="roundRect">
            <a:avLst>
              <a:gd name="adj" fmla="val 4706"/>
            </a:avLst>
          </a:prstGeom>
          <a:solidFill>
            <a:srgbClr val="E4F2E9"/>
          </a:solidFill>
          <a:ln w="12700">
            <a:solidFill>
              <a:srgbClr val="2C7A4B"/>
            </a:solidFill>
            <a:prstDash val="solid"/>
          </a:ln>
        </p:spPr>
      </p:sp>
      <p:sp>
        <p:nvSpPr>
          <p:cNvPr id="33" name="Text 31"/>
          <p:cNvSpPr/>
          <p:nvPr/>
        </p:nvSpPr>
        <p:spPr>
          <a:xfrm>
            <a:off x="6492240" y="4736592"/>
            <a:ext cx="4937760" cy="320040"/>
          </a:xfrm>
          <a:prstGeom prst="rect">
            <a:avLst/>
          </a:prstGeom>
          <a:noFill/>
          <a:ln/>
        </p:spPr>
        <p:txBody>
          <a:bodyPr wrap="square" lIns="0" tIns="0" rIns="0" bIns="0" rtlCol="0" anchor="ctr"/>
          <a:lstStyle/>
          <a:p>
            <a:pPr indent="0" marL="0">
              <a:buNone/>
            </a:pPr>
            <a:r>
              <a:rPr lang="en-US" sz="1450" b="1" dirty="0">
                <a:solidFill>
                  <a:srgbClr val="2C7A4B"/>
                </a:solidFill>
                <a:latin typeface="Calibri" pitchFamily="34" charset="0"/>
                <a:ea typeface="Calibri" pitchFamily="34" charset="-122"/>
                <a:cs typeface="Calibri" pitchFamily="34" charset="-120"/>
              </a:rPr>
              <a:t>The bottom line already exists</a:t>
            </a:r>
            <a:endParaRPr lang="en-US" sz="1450" dirty="0"/>
          </a:p>
        </p:txBody>
      </p:sp>
      <p:sp>
        <p:nvSpPr>
          <p:cNvPr id="34" name="Text 32"/>
          <p:cNvSpPr/>
          <p:nvPr/>
        </p:nvSpPr>
        <p:spPr>
          <a:xfrm>
            <a:off x="6492240" y="5084064"/>
            <a:ext cx="4937760" cy="960120"/>
          </a:xfrm>
          <a:prstGeom prst="rect">
            <a:avLst/>
          </a:prstGeom>
          <a:noFill/>
          <a:ln/>
        </p:spPr>
        <p:txBody>
          <a:bodyPr wrap="square" lIns="0" tIns="0" rIns="0" bIns="0" rtlCol="0" anchor="ctr"/>
          <a:lstStyle/>
          <a:p>
            <a:pPr indent="0" marL="0">
              <a:buNone/>
            </a:pPr>
            <a:r>
              <a:rPr lang="en-US" sz="1150" dirty="0">
                <a:solidFill>
                  <a:srgbClr val="232838"/>
                </a:solidFill>
                <a:latin typeface="Calibri" pitchFamily="34" charset="0"/>
                <a:ea typeface="Calibri" pitchFamily="34" charset="-122"/>
                <a:cs typeface="Calibri" pitchFamily="34" charset="-120"/>
              </a:rPr>
              <a:t>Real features are regenerated against known-good baselines: a KB change that degrades story quality is caught before release. Total evaluation cost per cycle: a few dollars.</a:t>
            </a:r>
            <a:endParaRPr lang="en-US" sz="1150" dirty="0"/>
          </a:p>
        </p:txBody>
      </p:sp>
      <p:sp>
        <p:nvSpPr>
          <p:cNvPr id="35" name="Text 33"/>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5C6470"/>
                </a:solidFill>
                <a:latin typeface="Calibri" pitchFamily="34" charset="0"/>
                <a:ea typeface="Calibri" pitchFamily="34" charset="-122"/>
                <a:cs typeface="Calibri" pitchFamily="34" charset="-120"/>
              </a:rPr>
              <a:t>Commerce Knowledge Base — Architecture Briefing</a:t>
            </a:r>
            <a:endParaRPr lang="en-US" sz="900" dirty="0"/>
          </a:p>
        </p:txBody>
      </p:sp>
      <p:sp>
        <p:nvSpPr>
          <p:cNvPr id="36" name="Text 34"/>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5C64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200" kern="0" dirty="0">
                <a:solidFill>
                  <a:srgbClr val="8A5F00"/>
                </a:solidFill>
                <a:latin typeface="Calibri" pitchFamily="34" charset="0"/>
                <a:ea typeface="Calibri" pitchFamily="34" charset="-122"/>
                <a:cs typeface="Calibri" pitchFamily="34" charset="-120"/>
              </a:rPr>
              <a:t>DUE DILIGENCE</a:t>
            </a:r>
            <a:endParaRPr lang="en-US" sz="1100" dirty="0"/>
          </a:p>
        </p:txBody>
      </p:sp>
      <p:sp>
        <p:nvSpPr>
          <p:cNvPr id="3" name="Text 1"/>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Every pillar is a named industry standard</a:t>
            </a:r>
            <a:endParaRPr lang="en-US" sz="3000" dirty="0"/>
          </a:p>
        </p:txBody>
      </p:sp>
      <p:sp>
        <p:nvSpPr>
          <p:cNvPr id="4" name="Text 2"/>
          <p:cNvSpPr/>
          <p:nvPr/>
        </p:nvSpPr>
        <p:spPr>
          <a:xfrm>
            <a:off x="502920" y="1481328"/>
            <a:ext cx="2834640" cy="310896"/>
          </a:xfrm>
          <a:prstGeom prst="rect">
            <a:avLst/>
          </a:prstGeom>
          <a:solidFill>
            <a:srgbClr val="1E2761"/>
          </a:solidFill>
          <a:ln/>
        </p:spPr>
        <p:txBody>
          <a:bodyPr wrap="square" lIns="762" tIns="762" rIns="762" bIns="762"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Design choice</a:t>
            </a:r>
            <a:endParaRPr lang="en-US" sz="1200" dirty="0"/>
          </a:p>
        </p:txBody>
      </p:sp>
      <p:sp>
        <p:nvSpPr>
          <p:cNvPr id="5" name="Text 3"/>
          <p:cNvSpPr/>
          <p:nvPr/>
        </p:nvSpPr>
        <p:spPr>
          <a:xfrm>
            <a:off x="3337560" y="1481328"/>
            <a:ext cx="5394960" cy="310896"/>
          </a:xfrm>
          <a:prstGeom prst="rect">
            <a:avLst/>
          </a:prstGeom>
          <a:solidFill>
            <a:srgbClr val="1E2761"/>
          </a:solidFill>
          <a:ln/>
        </p:spPr>
        <p:txBody>
          <a:bodyPr wrap="square" lIns="762" tIns="762" rIns="762" bIns="762"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Industry standard it implements</a:t>
            </a:r>
            <a:endParaRPr lang="en-US" sz="1200" dirty="0"/>
          </a:p>
        </p:txBody>
      </p:sp>
      <p:sp>
        <p:nvSpPr>
          <p:cNvPr id="6" name="Text 4"/>
          <p:cNvSpPr/>
          <p:nvPr/>
        </p:nvSpPr>
        <p:spPr>
          <a:xfrm>
            <a:off x="8732520" y="1481328"/>
            <a:ext cx="2944368" cy="310896"/>
          </a:xfrm>
          <a:prstGeom prst="rect">
            <a:avLst/>
          </a:prstGeom>
          <a:solidFill>
            <a:srgbClr val="1E2761"/>
          </a:solidFill>
          <a:ln/>
        </p:spPr>
        <p:txBody>
          <a:bodyPr wrap="square" lIns="762" tIns="762" rIns="762" bIns="762"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p>
        </p:txBody>
      </p:sp>
      <p:sp>
        <p:nvSpPr>
          <p:cNvPr id="7" name="Shape 5"/>
          <p:cNvSpPr/>
          <p:nvPr/>
        </p:nvSpPr>
        <p:spPr>
          <a:xfrm>
            <a:off x="502920" y="1792224"/>
            <a:ext cx="11173968" cy="566928"/>
          </a:xfrm>
          <a:prstGeom prst="rect">
            <a:avLst/>
          </a:prstGeom>
          <a:solidFill>
            <a:srgbClr val="EEF4FB"/>
          </a:solidFill>
          <a:ln w="12700">
            <a:solidFill>
              <a:srgbClr val="EEF4FB"/>
            </a:solidFill>
            <a:prstDash val="solid"/>
          </a:ln>
        </p:spPr>
      </p:sp>
      <p:sp>
        <p:nvSpPr>
          <p:cNvPr id="8" name="Text 6"/>
          <p:cNvSpPr/>
          <p:nvPr/>
        </p:nvSpPr>
        <p:spPr>
          <a:xfrm>
            <a:off x="502920" y="1792224"/>
            <a:ext cx="2834640" cy="566928"/>
          </a:xfrm>
          <a:prstGeom prst="rect">
            <a:avLst/>
          </a:prstGeom>
          <a:noFill/>
          <a:ln/>
        </p:spPr>
        <p:txBody>
          <a:bodyPr wrap="square" lIns="762" tIns="762" rIns="762" bIns="762"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Knowledge bundle format</a:t>
            </a:r>
            <a:endParaRPr lang="en-US" sz="1150" dirty="0"/>
          </a:p>
        </p:txBody>
      </p:sp>
      <p:sp>
        <p:nvSpPr>
          <p:cNvPr id="9" name="Text 7"/>
          <p:cNvSpPr/>
          <p:nvPr/>
        </p:nvSpPr>
        <p:spPr>
          <a:xfrm>
            <a:off x="3337560" y="1792224"/>
            <a:ext cx="5394960" cy="566928"/>
          </a:xfrm>
          <a:prstGeom prst="rect">
            <a:avLst/>
          </a:prstGeom>
          <a:noFill/>
          <a:ln/>
        </p:spPr>
        <p:txBody>
          <a:bodyPr wrap="square" lIns="762" tIns="762" rIns="762" bIns="762" rtlCol="0" anchor="ctr"/>
          <a:lstStyle/>
          <a:p>
            <a:pPr indent="0" marL="0">
              <a:buNone/>
            </a:pPr>
            <a:r>
              <a:rPr lang="en-US" sz="1100" dirty="0">
                <a:solidFill>
                  <a:srgbClr val="232838"/>
                </a:solidFill>
                <a:latin typeface="Calibri" pitchFamily="34" charset="0"/>
                <a:ea typeface="Calibri" pitchFamily="34" charset="-122"/>
                <a:cs typeface="Calibri" pitchFamily="34" charset="-120"/>
              </a:rPr>
              <a:t>Open Knowledge Format v0.2 — Google Cloud's vendor-neutral spec (2026)</a:t>
            </a:r>
            <a:endParaRPr lang="en-US" sz="1100" dirty="0"/>
          </a:p>
        </p:txBody>
      </p:sp>
      <p:sp>
        <p:nvSpPr>
          <p:cNvPr id="10" name="Text 8"/>
          <p:cNvSpPr/>
          <p:nvPr/>
        </p:nvSpPr>
        <p:spPr>
          <a:xfrm>
            <a:off x="8732520" y="1792224"/>
            <a:ext cx="2944368" cy="566928"/>
          </a:xfrm>
          <a:prstGeom prst="rect">
            <a:avLst/>
          </a:prstGeom>
          <a:noFill/>
          <a:ln/>
        </p:spPr>
        <p:txBody>
          <a:bodyPr wrap="square" lIns="762" tIns="762" rIns="762" bIns="762" rtlCol="0" anchor="ctr"/>
          <a:lstStyle/>
          <a:p>
            <a:pPr indent="0" marL="0">
              <a:buNone/>
            </a:pPr>
            <a:r>
              <a:rPr lang="en-US" sz="1100" b="1" dirty="0">
                <a:solidFill>
                  <a:srgbClr val="2C7A4B"/>
                </a:solidFill>
                <a:latin typeface="Calibri" pitchFamily="34" charset="0"/>
                <a:ea typeface="Calibri" pitchFamily="34" charset="-122"/>
                <a:cs typeface="Calibri" pitchFamily="34" charset="-120"/>
              </a:rPr>
              <a:t>Conformant — 12 automated checks in CI</a:t>
            </a:r>
            <a:endParaRPr lang="en-US" sz="1100" dirty="0"/>
          </a:p>
        </p:txBody>
      </p:sp>
      <p:sp>
        <p:nvSpPr>
          <p:cNvPr id="11" name="Shape 9"/>
          <p:cNvSpPr/>
          <p:nvPr/>
        </p:nvSpPr>
        <p:spPr>
          <a:xfrm>
            <a:off x="502920" y="2359152"/>
            <a:ext cx="11173968" cy="566928"/>
          </a:xfrm>
          <a:prstGeom prst="rect">
            <a:avLst/>
          </a:prstGeom>
          <a:solidFill>
            <a:srgbClr val="FFFFFF"/>
          </a:solidFill>
          <a:ln w="12700">
            <a:solidFill>
              <a:srgbClr val="FFFFFF"/>
            </a:solidFill>
            <a:prstDash val="solid"/>
          </a:ln>
        </p:spPr>
      </p:sp>
      <p:sp>
        <p:nvSpPr>
          <p:cNvPr id="12" name="Text 10"/>
          <p:cNvSpPr/>
          <p:nvPr/>
        </p:nvSpPr>
        <p:spPr>
          <a:xfrm>
            <a:off x="502920" y="2359152"/>
            <a:ext cx="2834640" cy="566928"/>
          </a:xfrm>
          <a:prstGeom prst="rect">
            <a:avLst/>
          </a:prstGeom>
          <a:noFill/>
          <a:ln/>
        </p:spPr>
        <p:txBody>
          <a:bodyPr wrap="square" lIns="762" tIns="762" rIns="762" bIns="762"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Three-layer architecture</a:t>
            </a:r>
            <a:endParaRPr lang="en-US" sz="1150" dirty="0"/>
          </a:p>
        </p:txBody>
      </p:sp>
      <p:sp>
        <p:nvSpPr>
          <p:cNvPr id="13" name="Text 11"/>
          <p:cNvSpPr/>
          <p:nvPr/>
        </p:nvSpPr>
        <p:spPr>
          <a:xfrm>
            <a:off x="3337560" y="2359152"/>
            <a:ext cx="5394960" cy="566928"/>
          </a:xfrm>
          <a:prstGeom prst="rect">
            <a:avLst/>
          </a:prstGeom>
          <a:noFill/>
          <a:ln/>
        </p:spPr>
        <p:txBody>
          <a:bodyPr wrap="square" lIns="762" tIns="762" rIns="762" bIns="762" rtlCol="0" anchor="ctr"/>
          <a:lstStyle/>
          <a:p>
            <a:pPr indent="0" marL="0">
              <a:buNone/>
            </a:pPr>
            <a:r>
              <a:rPr lang="en-US" sz="1100" dirty="0">
                <a:solidFill>
                  <a:srgbClr val="232838"/>
                </a:solidFill>
                <a:latin typeface="Calibri" pitchFamily="34" charset="0"/>
                <a:ea typeface="Calibri" pitchFamily="34" charset="-122"/>
                <a:cs typeface="Calibri" pitchFamily="34" charset="-120"/>
              </a:rPr>
              <a:t>The LLM-Wiki pattern (raw → generated → schema) that OKF formalized</a:t>
            </a:r>
            <a:endParaRPr lang="en-US" sz="1100" dirty="0"/>
          </a:p>
        </p:txBody>
      </p:sp>
      <p:sp>
        <p:nvSpPr>
          <p:cNvPr id="14" name="Text 12"/>
          <p:cNvSpPr/>
          <p:nvPr/>
        </p:nvSpPr>
        <p:spPr>
          <a:xfrm>
            <a:off x="8732520" y="2359152"/>
            <a:ext cx="2944368" cy="566928"/>
          </a:xfrm>
          <a:prstGeom prst="rect">
            <a:avLst/>
          </a:prstGeom>
          <a:noFill/>
          <a:ln/>
        </p:spPr>
        <p:txBody>
          <a:bodyPr wrap="square" lIns="762" tIns="762" rIns="762" bIns="762" rtlCol="0" anchor="ctr"/>
          <a:lstStyle/>
          <a:p>
            <a:pPr indent="0" marL="0">
              <a:buNone/>
            </a:pPr>
            <a:r>
              <a:rPr lang="en-US" sz="1100" b="1" dirty="0">
                <a:solidFill>
                  <a:srgbClr val="2C7A4B"/>
                </a:solidFill>
                <a:latin typeface="Calibri" pitchFamily="34" charset="0"/>
                <a:ea typeface="Calibri" pitchFamily="34" charset="-122"/>
                <a:cs typeface="Calibri" pitchFamily="34" charset="-120"/>
              </a:rPr>
              <a:t>Adopted</a:t>
            </a:r>
            <a:endParaRPr lang="en-US" sz="1100" dirty="0"/>
          </a:p>
        </p:txBody>
      </p:sp>
      <p:sp>
        <p:nvSpPr>
          <p:cNvPr id="15" name="Shape 13"/>
          <p:cNvSpPr/>
          <p:nvPr/>
        </p:nvSpPr>
        <p:spPr>
          <a:xfrm>
            <a:off x="502920" y="2926080"/>
            <a:ext cx="11173968" cy="566928"/>
          </a:xfrm>
          <a:prstGeom prst="rect">
            <a:avLst/>
          </a:prstGeom>
          <a:solidFill>
            <a:srgbClr val="EEF4FB"/>
          </a:solidFill>
          <a:ln w="12700">
            <a:solidFill>
              <a:srgbClr val="EEF4FB"/>
            </a:solidFill>
            <a:prstDash val="solid"/>
          </a:ln>
        </p:spPr>
      </p:sp>
      <p:sp>
        <p:nvSpPr>
          <p:cNvPr id="16" name="Text 14"/>
          <p:cNvSpPr/>
          <p:nvPr/>
        </p:nvSpPr>
        <p:spPr>
          <a:xfrm>
            <a:off x="502920" y="2926080"/>
            <a:ext cx="2834640" cy="566928"/>
          </a:xfrm>
          <a:prstGeom prst="rect">
            <a:avLst/>
          </a:prstGeom>
          <a:noFill/>
          <a:ln/>
        </p:spPr>
        <p:txBody>
          <a:bodyPr wrap="square" lIns="762" tIns="762" rIns="762" bIns="762"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Agent tool protocol</a:t>
            </a:r>
            <a:endParaRPr lang="en-US" sz="1150" dirty="0"/>
          </a:p>
        </p:txBody>
      </p:sp>
      <p:sp>
        <p:nvSpPr>
          <p:cNvPr id="17" name="Text 15"/>
          <p:cNvSpPr/>
          <p:nvPr/>
        </p:nvSpPr>
        <p:spPr>
          <a:xfrm>
            <a:off x="3337560" y="2926080"/>
            <a:ext cx="5394960" cy="566928"/>
          </a:xfrm>
          <a:prstGeom prst="rect">
            <a:avLst/>
          </a:prstGeom>
          <a:noFill/>
          <a:ln/>
        </p:spPr>
        <p:txBody>
          <a:bodyPr wrap="square" lIns="762" tIns="762" rIns="762" bIns="762" rtlCol="0" anchor="ctr"/>
          <a:lstStyle/>
          <a:p>
            <a:pPr indent="0" marL="0">
              <a:buNone/>
            </a:pPr>
            <a:r>
              <a:rPr lang="en-US" sz="1100" dirty="0">
                <a:solidFill>
                  <a:srgbClr val="232838"/>
                </a:solidFill>
                <a:latin typeface="Calibri" pitchFamily="34" charset="0"/>
                <a:ea typeface="Calibri" pitchFamily="34" charset="-122"/>
                <a:cs typeface="Calibri" pitchFamily="34" charset="-120"/>
              </a:rPr>
              <a:t>Model Context Protocol — Linux Foundation; OpenAI, Google, Microsoft, AWS, IBM</a:t>
            </a:r>
            <a:endParaRPr lang="en-US" sz="1100" dirty="0"/>
          </a:p>
        </p:txBody>
      </p:sp>
      <p:sp>
        <p:nvSpPr>
          <p:cNvPr id="18" name="Text 16"/>
          <p:cNvSpPr/>
          <p:nvPr/>
        </p:nvSpPr>
        <p:spPr>
          <a:xfrm>
            <a:off x="8732520" y="2926080"/>
            <a:ext cx="2944368" cy="566928"/>
          </a:xfrm>
          <a:prstGeom prst="rect">
            <a:avLst/>
          </a:prstGeom>
          <a:noFill/>
          <a:ln/>
        </p:spPr>
        <p:txBody>
          <a:bodyPr wrap="square" lIns="762" tIns="762" rIns="762" bIns="762" rtlCol="0" anchor="ctr"/>
          <a:lstStyle/>
          <a:p>
            <a:pPr indent="0" marL="0">
              <a:buNone/>
            </a:pPr>
            <a:r>
              <a:rPr lang="en-US" sz="1100" b="1" dirty="0">
                <a:solidFill>
                  <a:srgbClr val="2C7A4B"/>
                </a:solidFill>
                <a:latin typeface="Calibri" pitchFamily="34" charset="0"/>
                <a:ea typeface="Calibri" pitchFamily="34" charset="-122"/>
                <a:cs typeface="Calibri" pitchFamily="34" charset="-120"/>
              </a:rPr>
              <a:t>Adopted — 9 unified tools</a:t>
            </a:r>
            <a:endParaRPr lang="en-US" sz="1100" dirty="0"/>
          </a:p>
        </p:txBody>
      </p:sp>
      <p:sp>
        <p:nvSpPr>
          <p:cNvPr id="19" name="Shape 17"/>
          <p:cNvSpPr/>
          <p:nvPr/>
        </p:nvSpPr>
        <p:spPr>
          <a:xfrm>
            <a:off x="502920" y="3493008"/>
            <a:ext cx="11173968" cy="566928"/>
          </a:xfrm>
          <a:prstGeom prst="rect">
            <a:avLst/>
          </a:prstGeom>
          <a:solidFill>
            <a:srgbClr val="FFFFFF"/>
          </a:solidFill>
          <a:ln w="12700">
            <a:solidFill>
              <a:srgbClr val="FFFFFF"/>
            </a:solidFill>
            <a:prstDash val="solid"/>
          </a:ln>
        </p:spPr>
      </p:sp>
      <p:sp>
        <p:nvSpPr>
          <p:cNvPr id="20" name="Text 18"/>
          <p:cNvSpPr/>
          <p:nvPr/>
        </p:nvSpPr>
        <p:spPr>
          <a:xfrm>
            <a:off x="502920" y="3493008"/>
            <a:ext cx="2834640" cy="566928"/>
          </a:xfrm>
          <a:prstGeom prst="rect">
            <a:avLst/>
          </a:prstGeom>
          <a:noFill/>
          <a:ln/>
        </p:spPr>
        <p:txBody>
          <a:bodyPr wrap="square" lIns="762" tIns="762" rIns="762" bIns="762"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Service metadata</a:t>
            </a:r>
            <a:endParaRPr lang="en-US" sz="1150" dirty="0"/>
          </a:p>
        </p:txBody>
      </p:sp>
      <p:sp>
        <p:nvSpPr>
          <p:cNvPr id="21" name="Text 19"/>
          <p:cNvSpPr/>
          <p:nvPr/>
        </p:nvSpPr>
        <p:spPr>
          <a:xfrm>
            <a:off x="3337560" y="3493008"/>
            <a:ext cx="5394960" cy="566928"/>
          </a:xfrm>
          <a:prstGeom prst="rect">
            <a:avLst/>
          </a:prstGeom>
          <a:noFill/>
          <a:ln/>
        </p:spPr>
        <p:txBody>
          <a:bodyPr wrap="square" lIns="762" tIns="762" rIns="762" bIns="762" rtlCol="0" anchor="ctr"/>
          <a:lstStyle/>
          <a:p>
            <a:pPr indent="0" marL="0">
              <a:buNone/>
            </a:pPr>
            <a:r>
              <a:rPr lang="en-US" sz="1100" dirty="0">
                <a:solidFill>
                  <a:srgbClr val="232838"/>
                </a:solidFill>
                <a:latin typeface="Calibri" pitchFamily="34" charset="0"/>
                <a:ea typeface="Calibri" pitchFamily="34" charset="-122"/>
                <a:cs typeface="Calibri" pitchFamily="34" charset="-120"/>
              </a:rPr>
              <a:t>Backstage Software Catalog (CNCF) descriptor convention</a:t>
            </a:r>
            <a:endParaRPr lang="en-US" sz="1100" dirty="0"/>
          </a:p>
        </p:txBody>
      </p:sp>
      <p:sp>
        <p:nvSpPr>
          <p:cNvPr id="22" name="Text 20"/>
          <p:cNvSpPr/>
          <p:nvPr/>
        </p:nvSpPr>
        <p:spPr>
          <a:xfrm>
            <a:off x="8732520" y="3493008"/>
            <a:ext cx="2944368" cy="566928"/>
          </a:xfrm>
          <a:prstGeom prst="rect">
            <a:avLst/>
          </a:prstGeom>
          <a:noFill/>
          <a:ln/>
        </p:spPr>
        <p:txBody>
          <a:bodyPr wrap="square" lIns="762" tIns="762" rIns="762" bIns="762" rtlCol="0" anchor="ctr"/>
          <a:lstStyle/>
          <a:p>
            <a:pPr indent="0" marL="0">
              <a:buNone/>
            </a:pPr>
            <a:r>
              <a:rPr lang="en-US" sz="1100" b="1" dirty="0">
                <a:solidFill>
                  <a:srgbClr val="2C7A4B"/>
                </a:solidFill>
                <a:latin typeface="Calibri" pitchFamily="34" charset="0"/>
                <a:ea typeface="Calibri" pitchFamily="34" charset="-122"/>
                <a:cs typeface="Calibri" pitchFamily="34" charset="-120"/>
              </a:rPr>
              <a:t>Adopted</a:t>
            </a:r>
            <a:endParaRPr lang="en-US" sz="1100" dirty="0"/>
          </a:p>
        </p:txBody>
      </p:sp>
      <p:sp>
        <p:nvSpPr>
          <p:cNvPr id="23" name="Shape 21"/>
          <p:cNvSpPr/>
          <p:nvPr/>
        </p:nvSpPr>
        <p:spPr>
          <a:xfrm>
            <a:off x="502920" y="4059936"/>
            <a:ext cx="11173968" cy="566928"/>
          </a:xfrm>
          <a:prstGeom prst="rect">
            <a:avLst/>
          </a:prstGeom>
          <a:solidFill>
            <a:srgbClr val="EEF4FB"/>
          </a:solidFill>
          <a:ln w="12700">
            <a:solidFill>
              <a:srgbClr val="EEF4FB"/>
            </a:solidFill>
            <a:prstDash val="solid"/>
          </a:ln>
        </p:spPr>
      </p:sp>
      <p:sp>
        <p:nvSpPr>
          <p:cNvPr id="24" name="Text 22"/>
          <p:cNvSpPr/>
          <p:nvPr/>
        </p:nvSpPr>
        <p:spPr>
          <a:xfrm>
            <a:off x="502920" y="4059936"/>
            <a:ext cx="2834640" cy="566928"/>
          </a:xfrm>
          <a:prstGeom prst="rect">
            <a:avLst/>
          </a:prstGeom>
          <a:noFill/>
          <a:ln/>
        </p:spPr>
        <p:txBody>
          <a:bodyPr wrap="square" lIns="762" tIns="762" rIns="762" bIns="762"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Serving docs to AI</a:t>
            </a:r>
            <a:endParaRPr lang="en-US" sz="1150" dirty="0"/>
          </a:p>
        </p:txBody>
      </p:sp>
      <p:sp>
        <p:nvSpPr>
          <p:cNvPr id="25" name="Text 23"/>
          <p:cNvSpPr/>
          <p:nvPr/>
        </p:nvSpPr>
        <p:spPr>
          <a:xfrm>
            <a:off x="3337560" y="4059936"/>
            <a:ext cx="5394960" cy="566928"/>
          </a:xfrm>
          <a:prstGeom prst="rect">
            <a:avLst/>
          </a:prstGeom>
          <a:noFill/>
          <a:ln/>
        </p:spPr>
        <p:txBody>
          <a:bodyPr wrap="square" lIns="762" tIns="762" rIns="762" bIns="762" rtlCol="0" anchor="ctr"/>
          <a:lstStyle/>
          <a:p>
            <a:pPr indent="0" marL="0">
              <a:buNone/>
            </a:pPr>
            <a:r>
              <a:rPr lang="en-US" sz="1100" dirty="0">
                <a:solidFill>
                  <a:srgbClr val="232838"/>
                </a:solidFill>
                <a:latin typeface="Calibri" pitchFamily="34" charset="0"/>
                <a:ea typeface="Calibri" pitchFamily="34" charset="-122"/>
                <a:cs typeface="Calibri" pitchFamily="34" charset="-120"/>
              </a:rPr>
              <a:t>llms.txt movement — Cloudflare, Stripe, Anthropic, Mintlify (~10× token savings)</a:t>
            </a:r>
            <a:endParaRPr lang="en-US" sz="1100" dirty="0"/>
          </a:p>
        </p:txBody>
      </p:sp>
      <p:sp>
        <p:nvSpPr>
          <p:cNvPr id="26" name="Text 24"/>
          <p:cNvSpPr/>
          <p:nvPr/>
        </p:nvSpPr>
        <p:spPr>
          <a:xfrm>
            <a:off x="8732520" y="4059936"/>
            <a:ext cx="2944368" cy="566928"/>
          </a:xfrm>
          <a:prstGeom prst="rect">
            <a:avLst/>
          </a:prstGeom>
          <a:noFill/>
          <a:ln/>
        </p:spPr>
        <p:txBody>
          <a:bodyPr wrap="square" lIns="762" tIns="762" rIns="762" bIns="762" rtlCol="0" anchor="ctr"/>
          <a:lstStyle/>
          <a:p>
            <a:pPr indent="0" marL="0">
              <a:buNone/>
            </a:pPr>
            <a:r>
              <a:rPr lang="en-US" sz="1100" b="1" dirty="0">
                <a:solidFill>
                  <a:srgbClr val="2C7A4B"/>
                </a:solidFill>
                <a:latin typeface="Calibri" pitchFamily="34" charset="0"/>
                <a:ea typeface="Calibri" pitchFamily="34" charset="-122"/>
                <a:cs typeface="Calibri" pitchFamily="34" charset="-120"/>
              </a:rPr>
              <a:t>Aligned</a:t>
            </a:r>
            <a:endParaRPr lang="en-US" sz="1100" dirty="0"/>
          </a:p>
        </p:txBody>
      </p:sp>
      <p:sp>
        <p:nvSpPr>
          <p:cNvPr id="27" name="Shape 25"/>
          <p:cNvSpPr/>
          <p:nvPr/>
        </p:nvSpPr>
        <p:spPr>
          <a:xfrm>
            <a:off x="502920" y="4626864"/>
            <a:ext cx="11173968" cy="566928"/>
          </a:xfrm>
          <a:prstGeom prst="rect">
            <a:avLst/>
          </a:prstGeom>
          <a:solidFill>
            <a:srgbClr val="FFFFFF"/>
          </a:solidFill>
          <a:ln w="12700">
            <a:solidFill>
              <a:srgbClr val="FFFFFF"/>
            </a:solidFill>
            <a:prstDash val="solid"/>
          </a:ln>
        </p:spPr>
      </p:sp>
      <p:sp>
        <p:nvSpPr>
          <p:cNvPr id="28" name="Text 26"/>
          <p:cNvSpPr/>
          <p:nvPr/>
        </p:nvSpPr>
        <p:spPr>
          <a:xfrm>
            <a:off x="502920" y="4626864"/>
            <a:ext cx="2834640" cy="566928"/>
          </a:xfrm>
          <a:prstGeom prst="rect">
            <a:avLst/>
          </a:prstGeom>
          <a:noFill/>
          <a:ln/>
        </p:spPr>
        <p:txBody>
          <a:bodyPr wrap="square" lIns="762" tIns="762" rIns="762" bIns="762"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Retrieval evaluation</a:t>
            </a:r>
            <a:endParaRPr lang="en-US" sz="1150" dirty="0"/>
          </a:p>
        </p:txBody>
      </p:sp>
      <p:sp>
        <p:nvSpPr>
          <p:cNvPr id="29" name="Text 27"/>
          <p:cNvSpPr/>
          <p:nvPr/>
        </p:nvSpPr>
        <p:spPr>
          <a:xfrm>
            <a:off x="3337560" y="4626864"/>
            <a:ext cx="5394960" cy="566928"/>
          </a:xfrm>
          <a:prstGeom prst="rect">
            <a:avLst/>
          </a:prstGeom>
          <a:noFill/>
          <a:ln/>
        </p:spPr>
        <p:txBody>
          <a:bodyPr wrap="square" lIns="762" tIns="762" rIns="762" bIns="762" rtlCol="0" anchor="ctr"/>
          <a:lstStyle/>
          <a:p>
            <a:pPr indent="0" marL="0">
              <a:buNone/>
            </a:pPr>
            <a:r>
              <a:rPr lang="en-US" sz="1100" dirty="0">
                <a:solidFill>
                  <a:srgbClr val="232838"/>
                </a:solidFill>
                <a:latin typeface="Calibri" pitchFamily="34" charset="0"/>
                <a:ea typeface="Calibri" pitchFamily="34" charset="-122"/>
                <a:cs typeface="Calibri" pitchFamily="34" charset="-120"/>
              </a:rPr>
              <a:t>Golden datasets + Recall/MRR gates — standard RAG practice (Ragas / DeepEval)</a:t>
            </a:r>
            <a:endParaRPr lang="en-US" sz="1100" dirty="0"/>
          </a:p>
        </p:txBody>
      </p:sp>
      <p:sp>
        <p:nvSpPr>
          <p:cNvPr id="30" name="Text 28"/>
          <p:cNvSpPr/>
          <p:nvPr/>
        </p:nvSpPr>
        <p:spPr>
          <a:xfrm>
            <a:off x="8732520" y="4626864"/>
            <a:ext cx="2944368" cy="566928"/>
          </a:xfrm>
          <a:prstGeom prst="rect">
            <a:avLst/>
          </a:prstGeom>
          <a:noFill/>
          <a:ln/>
        </p:spPr>
        <p:txBody>
          <a:bodyPr wrap="square" lIns="762" tIns="762" rIns="762" bIns="762" rtlCol="0" anchor="ctr"/>
          <a:lstStyle/>
          <a:p>
            <a:pPr indent="0" marL="0">
              <a:buNone/>
            </a:pPr>
            <a:r>
              <a:rPr lang="en-US" sz="1100" b="1" dirty="0">
                <a:solidFill>
                  <a:srgbClr val="2C7A4B"/>
                </a:solidFill>
                <a:latin typeface="Calibri" pitchFamily="34" charset="0"/>
                <a:ea typeface="Calibri" pitchFamily="34" charset="-122"/>
                <a:cs typeface="Calibri" pitchFamily="34" charset="-120"/>
              </a:rPr>
              <a:t>Adopted — gates every PR</a:t>
            </a:r>
            <a:endParaRPr lang="en-US" sz="1100" dirty="0"/>
          </a:p>
        </p:txBody>
      </p:sp>
      <p:sp>
        <p:nvSpPr>
          <p:cNvPr id="31" name="Shape 29"/>
          <p:cNvSpPr/>
          <p:nvPr/>
        </p:nvSpPr>
        <p:spPr>
          <a:xfrm>
            <a:off x="502920" y="5193792"/>
            <a:ext cx="11173968" cy="566928"/>
          </a:xfrm>
          <a:prstGeom prst="rect">
            <a:avLst/>
          </a:prstGeom>
          <a:solidFill>
            <a:srgbClr val="EEF4FB"/>
          </a:solidFill>
          <a:ln w="12700">
            <a:solidFill>
              <a:srgbClr val="EEF4FB"/>
            </a:solidFill>
            <a:prstDash val="solid"/>
          </a:ln>
        </p:spPr>
      </p:sp>
      <p:sp>
        <p:nvSpPr>
          <p:cNvPr id="32" name="Text 30"/>
          <p:cNvSpPr/>
          <p:nvPr/>
        </p:nvSpPr>
        <p:spPr>
          <a:xfrm>
            <a:off x="502920" y="5193792"/>
            <a:ext cx="2834640" cy="566928"/>
          </a:xfrm>
          <a:prstGeom prst="rect">
            <a:avLst/>
          </a:prstGeom>
          <a:noFill/>
          <a:ln/>
        </p:spPr>
        <p:txBody>
          <a:bodyPr wrap="square" lIns="762" tIns="762" rIns="762" bIns="762"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Multi-domain governance</a:t>
            </a:r>
            <a:endParaRPr lang="en-US" sz="1150" dirty="0"/>
          </a:p>
        </p:txBody>
      </p:sp>
      <p:sp>
        <p:nvSpPr>
          <p:cNvPr id="33" name="Text 31"/>
          <p:cNvSpPr/>
          <p:nvPr/>
        </p:nvSpPr>
        <p:spPr>
          <a:xfrm>
            <a:off x="3337560" y="5193792"/>
            <a:ext cx="5394960" cy="566928"/>
          </a:xfrm>
          <a:prstGeom prst="rect">
            <a:avLst/>
          </a:prstGeom>
          <a:noFill/>
          <a:ln/>
        </p:spPr>
        <p:txBody>
          <a:bodyPr wrap="square" lIns="762" tIns="762" rIns="762" bIns="762" rtlCol="0" anchor="ctr"/>
          <a:lstStyle/>
          <a:p>
            <a:pPr indent="0" marL="0">
              <a:buNone/>
            </a:pPr>
            <a:r>
              <a:rPr lang="en-US" sz="1100" dirty="0">
                <a:solidFill>
                  <a:srgbClr val="232838"/>
                </a:solidFill>
                <a:latin typeface="Calibri" pitchFamily="34" charset="0"/>
                <a:ea typeface="Calibri" pitchFamily="34" charset="-122"/>
                <a:cs typeface="Calibri" pitchFamily="34" charset="-120"/>
              </a:rPr>
              <a:t>Data-mesh federated governance: central standards, local enforcement</a:t>
            </a:r>
            <a:endParaRPr lang="en-US" sz="1100" dirty="0"/>
          </a:p>
        </p:txBody>
      </p:sp>
      <p:sp>
        <p:nvSpPr>
          <p:cNvPr id="34" name="Text 32"/>
          <p:cNvSpPr/>
          <p:nvPr/>
        </p:nvSpPr>
        <p:spPr>
          <a:xfrm>
            <a:off x="8732520" y="5193792"/>
            <a:ext cx="2944368" cy="566928"/>
          </a:xfrm>
          <a:prstGeom prst="rect">
            <a:avLst/>
          </a:prstGeom>
          <a:noFill/>
          <a:ln/>
        </p:spPr>
        <p:txBody>
          <a:bodyPr wrap="square" lIns="762" tIns="762" rIns="762" bIns="762" rtlCol="0" anchor="ctr"/>
          <a:lstStyle/>
          <a:p>
            <a:pPr indent="0" marL="0">
              <a:buNone/>
            </a:pPr>
            <a:r>
              <a:rPr lang="en-US" sz="1100" b="1" dirty="0">
                <a:solidFill>
                  <a:srgbClr val="2C7A4B"/>
                </a:solidFill>
                <a:latin typeface="Calibri" pitchFamily="34" charset="0"/>
                <a:ea typeface="Calibri" pitchFamily="34" charset="-122"/>
                <a:cs typeface="Calibri" pitchFamily="34" charset="-120"/>
              </a:rPr>
              <a:t>Design basis for scaling</a:t>
            </a:r>
            <a:endParaRPr lang="en-US" sz="1100" dirty="0"/>
          </a:p>
        </p:txBody>
      </p:sp>
      <p:sp>
        <p:nvSpPr>
          <p:cNvPr id="35" name="Text 33"/>
          <p:cNvSpPr/>
          <p:nvPr/>
        </p:nvSpPr>
        <p:spPr>
          <a:xfrm>
            <a:off x="502920" y="5897880"/>
            <a:ext cx="1115568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We standardized; we did not invent. Nothing here depends on a proprietary product or a single vendor's roadmap.</a:t>
            </a:r>
            <a:endParaRPr lang="en-US" sz="1300" dirty="0"/>
          </a:p>
        </p:txBody>
      </p:sp>
      <p:sp>
        <p:nvSpPr>
          <p:cNvPr id="36" name="Text 34"/>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5C6470"/>
                </a:solidFill>
                <a:latin typeface="Calibri" pitchFamily="34" charset="0"/>
                <a:ea typeface="Calibri" pitchFamily="34" charset="-122"/>
                <a:cs typeface="Calibri" pitchFamily="34" charset="-120"/>
              </a:rPr>
              <a:t>Commerce Knowledge Base — Architecture Briefing</a:t>
            </a:r>
            <a:endParaRPr lang="en-US" sz="900" dirty="0"/>
          </a:p>
        </p:txBody>
      </p:sp>
      <p:sp>
        <p:nvSpPr>
          <p:cNvPr id="37" name="Text 35"/>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5C64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200" kern="0" dirty="0">
                <a:solidFill>
                  <a:srgbClr val="8A5F00"/>
                </a:solidFill>
                <a:latin typeface="Calibri" pitchFamily="34" charset="0"/>
                <a:ea typeface="Calibri" pitchFamily="34" charset="-122"/>
                <a:cs typeface="Calibri" pitchFamily="34" charset="-120"/>
              </a:rPr>
              <a:t>SCALING</a:t>
            </a:r>
            <a:endParaRPr lang="en-US" sz="1100" dirty="0"/>
          </a:p>
        </p:txBody>
      </p:sp>
      <p:sp>
        <p:nvSpPr>
          <p:cNvPr id="3" name="Text 1"/>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Federation: same blueprint, separate houses</a:t>
            </a:r>
            <a:endParaRPr lang="en-US" sz="3000" dirty="0"/>
          </a:p>
        </p:txBody>
      </p:sp>
      <p:sp>
        <p:nvSpPr>
          <p:cNvPr id="4" name="Text 2"/>
          <p:cNvSpPr/>
          <p:nvPr/>
        </p:nvSpPr>
        <p:spPr>
          <a:xfrm>
            <a:off x="502920" y="1325880"/>
            <a:ext cx="11155680" cy="365760"/>
          </a:xfrm>
          <a:prstGeom prst="rect">
            <a:avLst/>
          </a:prstGeom>
          <a:noFill/>
          <a:ln/>
        </p:spPr>
        <p:txBody>
          <a:bodyPr wrap="square" lIns="0" tIns="0" rIns="0" bIns="0" rtlCol="0" anchor="ctr"/>
          <a:lstStyle/>
          <a:p>
            <a:pPr indent="0" marL="0">
              <a:buNone/>
            </a:pPr>
            <a:r>
              <a:rPr lang="en-US" sz="1350" i="1" dirty="0">
                <a:solidFill>
                  <a:srgbClr val="5C6470"/>
                </a:solidFill>
                <a:latin typeface="Calibri" pitchFamily="34" charset="0"/>
                <a:ea typeface="Calibri" pitchFamily="34" charset="-122"/>
                <a:cs typeface="Calibri" pitchFamily="34" charset="-120"/>
              </a:rPr>
              <a:t>Customer, Order, and Billing want their own KB. We scale by ownership, not by centralizing:</a:t>
            </a:r>
            <a:endParaRPr lang="en-US" sz="1350" dirty="0"/>
          </a:p>
        </p:txBody>
      </p:sp>
      <p:sp>
        <p:nvSpPr>
          <p:cNvPr id="5" name="Shape 3"/>
          <p:cNvSpPr/>
          <p:nvPr/>
        </p:nvSpPr>
        <p:spPr>
          <a:xfrm>
            <a:off x="3566160" y="1828800"/>
            <a:ext cx="5029200" cy="1005840"/>
          </a:xfrm>
          <a:prstGeom prst="roundRect">
            <a:avLst>
              <a:gd name="adj" fmla="val 7273"/>
            </a:avLst>
          </a:prstGeom>
          <a:solidFill>
            <a:srgbClr val="1E2761"/>
          </a:solidFill>
          <a:ln w="12700">
            <a:solidFill>
              <a:srgbClr val="1E2761"/>
            </a:solidFill>
            <a:prstDash val="solid"/>
          </a:ln>
        </p:spPr>
      </p:sp>
      <p:sp>
        <p:nvSpPr>
          <p:cNvPr id="6" name="Text 4"/>
          <p:cNvSpPr/>
          <p:nvPr/>
        </p:nvSpPr>
        <p:spPr>
          <a:xfrm>
            <a:off x="3794760" y="1956816"/>
            <a:ext cx="457200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kb-framework  (the shared blueprint)</a:t>
            </a:r>
            <a:endParaRPr lang="en-US" sz="1350" dirty="0"/>
          </a:p>
        </p:txBody>
      </p:sp>
      <p:sp>
        <p:nvSpPr>
          <p:cNvPr id="7" name="Text 5"/>
          <p:cNvSpPr/>
          <p:nvPr/>
        </p:nvSpPr>
        <p:spPr>
          <a:xfrm>
            <a:off x="3794760" y="2286000"/>
            <a:ext cx="4663440" cy="45720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generator · CLI · search · MCP server · schemas · exams — one versioned package</a:t>
            </a:r>
            <a:endParaRPr lang="en-US" sz="1050" dirty="0"/>
          </a:p>
        </p:txBody>
      </p:sp>
      <p:sp>
        <p:nvSpPr>
          <p:cNvPr id="8" name="Shape 6"/>
          <p:cNvSpPr/>
          <p:nvPr/>
        </p:nvSpPr>
        <p:spPr>
          <a:xfrm>
            <a:off x="2350008" y="2907792"/>
            <a:ext cx="329184" cy="365760"/>
          </a:xfrm>
          <a:prstGeom prst="downArrow">
            <a:avLst/>
          </a:prstGeom>
          <a:solidFill>
            <a:srgbClr val="F0A500"/>
          </a:solidFill>
          <a:ln/>
        </p:spPr>
      </p:sp>
      <p:sp>
        <p:nvSpPr>
          <p:cNvPr id="9" name="Shape 7"/>
          <p:cNvSpPr/>
          <p:nvPr/>
        </p:nvSpPr>
        <p:spPr>
          <a:xfrm>
            <a:off x="1051560" y="3337560"/>
            <a:ext cx="2926080" cy="1600200"/>
          </a:xfrm>
          <a:prstGeom prst="roundRect">
            <a:avLst>
              <a:gd name="adj" fmla="val 4571"/>
            </a:avLst>
          </a:prstGeom>
          <a:solidFill>
            <a:srgbClr val="FFE1CC"/>
          </a:solidFill>
          <a:ln w="12700">
            <a:solidFill>
              <a:srgbClr val="FFE1CC"/>
            </a:solidFill>
            <a:prstDash val="solid"/>
          </a:ln>
        </p:spPr>
      </p:sp>
      <p:sp>
        <p:nvSpPr>
          <p:cNvPr id="10" name="Text 8"/>
          <p:cNvSpPr/>
          <p:nvPr/>
        </p:nvSpPr>
        <p:spPr>
          <a:xfrm>
            <a:off x="1234440" y="3474720"/>
            <a:ext cx="2560320" cy="320040"/>
          </a:xfrm>
          <a:prstGeom prst="rect">
            <a:avLst/>
          </a:prstGeom>
          <a:noFill/>
          <a:ln/>
        </p:spPr>
        <p:txBody>
          <a:bodyPr wrap="square" lIns="0" tIns="0" rIns="0" bIns="0" rtlCol="0" anchor="ctr"/>
          <a:lstStyle/>
          <a:p>
            <a:pPr indent="0" marL="0">
              <a:buNone/>
            </a:pPr>
            <a:r>
              <a:rPr lang="en-US" sz="1300" b="1" dirty="0">
                <a:solidFill>
                  <a:srgbClr val="9A4A1E"/>
                </a:solidFill>
                <a:latin typeface="Courier New" pitchFamily="34" charset="0"/>
                <a:ea typeface="Courier New" pitchFamily="34" charset="-122"/>
                <a:cs typeface="Courier New" pitchFamily="34" charset="-120"/>
              </a:rPr>
              <a:t>commerce-kb</a:t>
            </a:r>
            <a:endParaRPr lang="en-US" sz="1300" dirty="0"/>
          </a:p>
        </p:txBody>
      </p:sp>
      <p:sp>
        <p:nvSpPr>
          <p:cNvPr id="11" name="Text 9"/>
          <p:cNvSpPr/>
          <p:nvPr/>
        </p:nvSpPr>
        <p:spPr>
          <a:xfrm>
            <a:off x="1234440" y="3822192"/>
            <a:ext cx="2560320" cy="594360"/>
          </a:xfrm>
          <a:prstGeom prst="rect">
            <a:avLst/>
          </a:prstGeom>
          <a:noFill/>
          <a:ln/>
        </p:spPr>
        <p:txBody>
          <a:bodyPr wrap="square" lIns="0" tIns="0" rIns="0" bIns="0" rtlCol="0" anchor="ctr"/>
          <a:lstStyle/>
          <a:p>
            <a:pPr indent="0" marL="0">
              <a:buNone/>
            </a:pPr>
            <a:r>
              <a:rPr lang="en-US" sz="1050" dirty="0">
                <a:solidFill>
                  <a:srgbClr val="232838"/>
                </a:solidFill>
                <a:latin typeface="Calibri" pitchFamily="34" charset="0"/>
                <a:ea typeface="Calibri" pitchFamily="34" charset="-122"/>
                <a:cs typeface="Calibri" pitchFamily="34" charset="-120"/>
              </a:rPr>
              <a:t>own repo · own team · own CI · own on-call · own MCP server</a:t>
            </a:r>
            <a:endParaRPr lang="en-US" sz="1050" dirty="0"/>
          </a:p>
        </p:txBody>
      </p:sp>
      <p:sp>
        <p:nvSpPr>
          <p:cNvPr id="12" name="Text 10"/>
          <p:cNvSpPr/>
          <p:nvPr/>
        </p:nvSpPr>
        <p:spPr>
          <a:xfrm>
            <a:off x="1234440" y="4498848"/>
            <a:ext cx="2560320" cy="292608"/>
          </a:xfrm>
          <a:prstGeom prst="rect">
            <a:avLst/>
          </a:prstGeom>
          <a:noFill/>
          <a:ln/>
        </p:spPr>
        <p:txBody>
          <a:bodyPr wrap="square" lIns="0" tIns="0" rIns="0" bIns="0" rtlCol="0" anchor="ctr"/>
          <a:lstStyle/>
          <a:p>
            <a:pPr indent="0" marL="0">
              <a:buNone/>
            </a:pPr>
            <a:r>
              <a:rPr lang="en-US" sz="1050" b="1" i="1" dirty="0">
                <a:solidFill>
                  <a:srgbClr val="9A4A1E"/>
                </a:solidFill>
                <a:latin typeface="Calibri" pitchFamily="34" charset="0"/>
                <a:ea typeface="Calibri" pitchFamily="34" charset="-122"/>
                <a:cs typeface="Calibri" pitchFamily="34" charset="-120"/>
              </a:rPr>
              <a:t>live today</a:t>
            </a:r>
            <a:endParaRPr lang="en-US" sz="1050" dirty="0"/>
          </a:p>
        </p:txBody>
      </p:sp>
      <p:sp>
        <p:nvSpPr>
          <p:cNvPr id="13" name="Shape 11"/>
          <p:cNvSpPr/>
          <p:nvPr/>
        </p:nvSpPr>
        <p:spPr>
          <a:xfrm>
            <a:off x="5870448" y="2907792"/>
            <a:ext cx="329184" cy="365760"/>
          </a:xfrm>
          <a:prstGeom prst="downArrow">
            <a:avLst/>
          </a:prstGeom>
          <a:solidFill>
            <a:srgbClr val="F0A500"/>
          </a:solidFill>
          <a:ln/>
        </p:spPr>
      </p:sp>
      <p:sp>
        <p:nvSpPr>
          <p:cNvPr id="14" name="Shape 12"/>
          <p:cNvSpPr/>
          <p:nvPr/>
        </p:nvSpPr>
        <p:spPr>
          <a:xfrm>
            <a:off x="4572000" y="3337560"/>
            <a:ext cx="2926080" cy="1600200"/>
          </a:xfrm>
          <a:prstGeom prst="roundRect">
            <a:avLst>
              <a:gd name="adj" fmla="val 4571"/>
            </a:avLst>
          </a:prstGeom>
          <a:solidFill>
            <a:srgbClr val="E4F2E9"/>
          </a:solidFill>
          <a:ln w="12700">
            <a:solidFill>
              <a:srgbClr val="E4F2E9"/>
            </a:solidFill>
            <a:prstDash val="solid"/>
          </a:ln>
        </p:spPr>
      </p:sp>
      <p:sp>
        <p:nvSpPr>
          <p:cNvPr id="15" name="Text 13"/>
          <p:cNvSpPr/>
          <p:nvPr/>
        </p:nvSpPr>
        <p:spPr>
          <a:xfrm>
            <a:off x="4754880" y="3474720"/>
            <a:ext cx="2560320" cy="320040"/>
          </a:xfrm>
          <a:prstGeom prst="rect">
            <a:avLst/>
          </a:prstGeom>
          <a:noFill/>
          <a:ln/>
        </p:spPr>
        <p:txBody>
          <a:bodyPr wrap="square" lIns="0" tIns="0" rIns="0" bIns="0" rtlCol="0" anchor="ctr"/>
          <a:lstStyle/>
          <a:p>
            <a:pPr indent="0" marL="0">
              <a:buNone/>
            </a:pPr>
            <a:r>
              <a:rPr lang="en-US" sz="1300" b="1" dirty="0">
                <a:solidFill>
                  <a:srgbClr val="2C7A4B"/>
                </a:solidFill>
                <a:latin typeface="Courier New" pitchFamily="34" charset="0"/>
                <a:ea typeface="Courier New" pitchFamily="34" charset="-122"/>
                <a:cs typeface="Courier New" pitchFamily="34" charset="-120"/>
              </a:rPr>
              <a:t>customer-kb</a:t>
            </a:r>
            <a:endParaRPr lang="en-US" sz="1300" dirty="0"/>
          </a:p>
        </p:txBody>
      </p:sp>
      <p:sp>
        <p:nvSpPr>
          <p:cNvPr id="16" name="Text 14"/>
          <p:cNvSpPr/>
          <p:nvPr/>
        </p:nvSpPr>
        <p:spPr>
          <a:xfrm>
            <a:off x="4754880" y="3822192"/>
            <a:ext cx="2560320" cy="594360"/>
          </a:xfrm>
          <a:prstGeom prst="rect">
            <a:avLst/>
          </a:prstGeom>
          <a:noFill/>
          <a:ln/>
        </p:spPr>
        <p:txBody>
          <a:bodyPr wrap="square" lIns="0" tIns="0" rIns="0" bIns="0" rtlCol="0" anchor="ctr"/>
          <a:lstStyle/>
          <a:p>
            <a:pPr indent="0" marL="0">
              <a:buNone/>
            </a:pPr>
            <a:r>
              <a:rPr lang="en-US" sz="1050" dirty="0">
                <a:solidFill>
                  <a:srgbClr val="232838"/>
                </a:solidFill>
                <a:latin typeface="Calibri" pitchFamily="34" charset="0"/>
                <a:ea typeface="Calibri" pitchFamily="34" charset="-122"/>
                <a:cs typeface="Calibri" pitchFamily="34" charset="-120"/>
              </a:rPr>
              <a:t>own repo · own team · own CI · own on-call · own MCP server</a:t>
            </a:r>
            <a:endParaRPr lang="en-US" sz="1050" dirty="0"/>
          </a:p>
        </p:txBody>
      </p:sp>
      <p:sp>
        <p:nvSpPr>
          <p:cNvPr id="17" name="Text 15"/>
          <p:cNvSpPr/>
          <p:nvPr/>
        </p:nvSpPr>
        <p:spPr>
          <a:xfrm>
            <a:off x="4754880" y="4498848"/>
            <a:ext cx="2560320" cy="292608"/>
          </a:xfrm>
          <a:prstGeom prst="rect">
            <a:avLst/>
          </a:prstGeom>
          <a:noFill/>
          <a:ln/>
        </p:spPr>
        <p:txBody>
          <a:bodyPr wrap="square" lIns="0" tIns="0" rIns="0" bIns="0" rtlCol="0" anchor="ctr"/>
          <a:lstStyle/>
          <a:p>
            <a:pPr indent="0" marL="0">
              <a:buNone/>
            </a:pPr>
            <a:r>
              <a:rPr lang="en-US" sz="1050" b="1" i="1" dirty="0">
                <a:solidFill>
                  <a:srgbClr val="2C7A4B"/>
                </a:solidFill>
                <a:latin typeface="Calibri" pitchFamily="34" charset="0"/>
                <a:ea typeface="Calibri" pitchFamily="34" charset="-122"/>
                <a:cs typeface="Calibri" pitchFamily="34" charset="-120"/>
              </a:rPr>
              <a:t>next to onboard</a:t>
            </a:r>
            <a:endParaRPr lang="en-US" sz="1050" dirty="0"/>
          </a:p>
        </p:txBody>
      </p:sp>
      <p:sp>
        <p:nvSpPr>
          <p:cNvPr id="18" name="Shape 16"/>
          <p:cNvSpPr/>
          <p:nvPr/>
        </p:nvSpPr>
        <p:spPr>
          <a:xfrm>
            <a:off x="9390888" y="2907792"/>
            <a:ext cx="329184" cy="365760"/>
          </a:xfrm>
          <a:prstGeom prst="downArrow">
            <a:avLst/>
          </a:prstGeom>
          <a:solidFill>
            <a:srgbClr val="F0A500"/>
          </a:solidFill>
          <a:ln/>
        </p:spPr>
      </p:sp>
      <p:sp>
        <p:nvSpPr>
          <p:cNvPr id="19" name="Shape 17"/>
          <p:cNvSpPr/>
          <p:nvPr/>
        </p:nvSpPr>
        <p:spPr>
          <a:xfrm>
            <a:off x="8092440" y="3337560"/>
            <a:ext cx="2926080" cy="1600200"/>
          </a:xfrm>
          <a:prstGeom prst="roundRect">
            <a:avLst>
              <a:gd name="adj" fmla="val 4571"/>
            </a:avLst>
          </a:prstGeom>
          <a:solidFill>
            <a:srgbClr val="ECE7FA"/>
          </a:solidFill>
          <a:ln w="12700">
            <a:solidFill>
              <a:srgbClr val="ECE7FA"/>
            </a:solidFill>
            <a:prstDash val="solid"/>
          </a:ln>
        </p:spPr>
      </p:sp>
      <p:sp>
        <p:nvSpPr>
          <p:cNvPr id="20" name="Text 18"/>
          <p:cNvSpPr/>
          <p:nvPr/>
        </p:nvSpPr>
        <p:spPr>
          <a:xfrm>
            <a:off x="8275320" y="3474720"/>
            <a:ext cx="2560320" cy="320040"/>
          </a:xfrm>
          <a:prstGeom prst="rect">
            <a:avLst/>
          </a:prstGeom>
          <a:noFill/>
          <a:ln/>
        </p:spPr>
        <p:txBody>
          <a:bodyPr wrap="square" lIns="0" tIns="0" rIns="0" bIns="0" rtlCol="0" anchor="ctr"/>
          <a:lstStyle/>
          <a:p>
            <a:pPr indent="0" marL="0">
              <a:buNone/>
            </a:pPr>
            <a:r>
              <a:rPr lang="en-US" sz="1300" b="1" dirty="0">
                <a:solidFill>
                  <a:srgbClr val="4F3A9E"/>
                </a:solidFill>
                <a:latin typeface="Courier New" pitchFamily="34" charset="0"/>
                <a:ea typeface="Courier New" pitchFamily="34" charset="-122"/>
                <a:cs typeface="Courier New" pitchFamily="34" charset="-120"/>
              </a:rPr>
              <a:t>order-kb</a:t>
            </a:r>
            <a:endParaRPr lang="en-US" sz="1300" dirty="0"/>
          </a:p>
        </p:txBody>
      </p:sp>
      <p:sp>
        <p:nvSpPr>
          <p:cNvPr id="21" name="Text 19"/>
          <p:cNvSpPr/>
          <p:nvPr/>
        </p:nvSpPr>
        <p:spPr>
          <a:xfrm>
            <a:off x="8275320" y="3822192"/>
            <a:ext cx="2560320" cy="594360"/>
          </a:xfrm>
          <a:prstGeom prst="rect">
            <a:avLst/>
          </a:prstGeom>
          <a:noFill/>
          <a:ln/>
        </p:spPr>
        <p:txBody>
          <a:bodyPr wrap="square" lIns="0" tIns="0" rIns="0" bIns="0" rtlCol="0" anchor="ctr"/>
          <a:lstStyle/>
          <a:p>
            <a:pPr indent="0" marL="0">
              <a:buNone/>
            </a:pPr>
            <a:r>
              <a:rPr lang="en-US" sz="1050" dirty="0">
                <a:solidFill>
                  <a:srgbClr val="232838"/>
                </a:solidFill>
                <a:latin typeface="Calibri" pitchFamily="34" charset="0"/>
                <a:ea typeface="Calibri" pitchFamily="34" charset="-122"/>
                <a:cs typeface="Calibri" pitchFamily="34" charset="-120"/>
              </a:rPr>
              <a:t>own repo · own team · own CI · own on-call · own MCP server</a:t>
            </a:r>
            <a:endParaRPr lang="en-US" sz="1050" dirty="0"/>
          </a:p>
        </p:txBody>
      </p:sp>
      <p:sp>
        <p:nvSpPr>
          <p:cNvPr id="22" name="Text 20"/>
          <p:cNvSpPr/>
          <p:nvPr/>
        </p:nvSpPr>
        <p:spPr>
          <a:xfrm>
            <a:off x="8275320" y="4498848"/>
            <a:ext cx="2560320" cy="292608"/>
          </a:xfrm>
          <a:prstGeom prst="rect">
            <a:avLst/>
          </a:prstGeom>
          <a:noFill/>
          <a:ln/>
        </p:spPr>
        <p:txBody>
          <a:bodyPr wrap="square" lIns="0" tIns="0" rIns="0" bIns="0" rtlCol="0" anchor="ctr"/>
          <a:lstStyle/>
          <a:p>
            <a:pPr indent="0" marL="0">
              <a:buNone/>
            </a:pPr>
            <a:r>
              <a:rPr lang="en-US" sz="1050" b="1" i="1" dirty="0">
                <a:solidFill>
                  <a:srgbClr val="4F3A9E"/>
                </a:solidFill>
                <a:latin typeface="Calibri" pitchFamily="34" charset="0"/>
                <a:ea typeface="Calibri" pitchFamily="34" charset="-122"/>
                <a:cs typeface="Calibri" pitchFamily="34" charset="-120"/>
              </a:rPr>
              <a:t>then at its own pace</a:t>
            </a:r>
            <a:endParaRPr lang="en-US" sz="1050" dirty="0"/>
          </a:p>
        </p:txBody>
      </p:sp>
      <p:sp>
        <p:nvSpPr>
          <p:cNvPr id="23" name="Shape 21"/>
          <p:cNvSpPr/>
          <p:nvPr/>
        </p:nvSpPr>
        <p:spPr>
          <a:xfrm>
            <a:off x="502920" y="5120640"/>
            <a:ext cx="3584448" cy="1280160"/>
          </a:xfrm>
          <a:prstGeom prst="roundRect">
            <a:avLst>
              <a:gd name="adj" fmla="val 5714"/>
            </a:avLst>
          </a:prstGeom>
          <a:solidFill>
            <a:srgbClr val="EEF4FB"/>
          </a:solidFill>
          <a:ln w="12700">
            <a:solidFill>
              <a:srgbClr val="EEF4FB"/>
            </a:solidFill>
            <a:prstDash val="solid"/>
          </a:ln>
        </p:spPr>
      </p:sp>
      <p:sp>
        <p:nvSpPr>
          <p:cNvPr id="24" name="Text 22"/>
          <p:cNvSpPr/>
          <p:nvPr/>
        </p:nvSpPr>
        <p:spPr>
          <a:xfrm>
            <a:off x="685800" y="5230368"/>
            <a:ext cx="3246120"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Standards global, enforcement local</a:t>
            </a:r>
            <a:endParaRPr lang="en-US" sz="1200" dirty="0"/>
          </a:p>
        </p:txBody>
      </p:sp>
      <p:sp>
        <p:nvSpPr>
          <p:cNvPr id="25" name="Text 23"/>
          <p:cNvSpPr/>
          <p:nvPr/>
        </p:nvSpPr>
        <p:spPr>
          <a:xfrm>
            <a:off x="685800" y="5669280"/>
            <a:ext cx="3246120" cy="685800"/>
          </a:xfrm>
          <a:prstGeom prst="rect">
            <a:avLst/>
          </a:prstGeom>
          <a:noFill/>
          <a:ln/>
        </p:spPr>
        <p:txBody>
          <a:bodyPr wrap="square" lIns="0" tIns="0" rIns="0" bIns="0" rtlCol="0" anchor="ctr"/>
          <a:lstStyle/>
          <a:p>
            <a:pPr indent="0" marL="0">
              <a:buNone/>
            </a:pPr>
            <a:r>
              <a:rPr lang="en-US" sz="1000" dirty="0">
                <a:solidFill>
                  <a:srgbClr val="232838"/>
                </a:solidFill>
                <a:latin typeface="Calibri" pitchFamily="34" charset="0"/>
                <a:ea typeface="Calibri" pitchFamily="34" charset="-122"/>
                <a:cs typeface="Calibri" pitchFamily="34" charset="-120"/>
              </a:rPr>
              <a:t>Same conformance checks and quality gates run in each domain’s own pipeline. No central review desk, no drift.</a:t>
            </a:r>
            <a:endParaRPr lang="en-US" sz="1000" dirty="0"/>
          </a:p>
        </p:txBody>
      </p:sp>
      <p:sp>
        <p:nvSpPr>
          <p:cNvPr id="26" name="Shape 24"/>
          <p:cNvSpPr/>
          <p:nvPr/>
        </p:nvSpPr>
        <p:spPr>
          <a:xfrm>
            <a:off x="4325112" y="5120640"/>
            <a:ext cx="3584448" cy="1280160"/>
          </a:xfrm>
          <a:prstGeom prst="roundRect">
            <a:avLst>
              <a:gd name="adj" fmla="val 5714"/>
            </a:avLst>
          </a:prstGeom>
          <a:solidFill>
            <a:srgbClr val="EEF4FB"/>
          </a:solidFill>
          <a:ln w="12700">
            <a:solidFill>
              <a:srgbClr val="EEF4FB"/>
            </a:solidFill>
            <a:prstDash val="solid"/>
          </a:ln>
        </p:spPr>
      </p:sp>
      <p:sp>
        <p:nvSpPr>
          <p:cNvPr id="27" name="Text 25"/>
          <p:cNvSpPr/>
          <p:nvPr/>
        </p:nvSpPr>
        <p:spPr>
          <a:xfrm>
            <a:off x="4507992" y="5230368"/>
            <a:ext cx="3246120"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Onboarding is template instantiation</a:t>
            </a:r>
            <a:endParaRPr lang="en-US" sz="1200" dirty="0"/>
          </a:p>
        </p:txBody>
      </p:sp>
      <p:sp>
        <p:nvSpPr>
          <p:cNvPr id="28" name="Text 26"/>
          <p:cNvSpPr/>
          <p:nvPr/>
        </p:nvSpPr>
        <p:spPr>
          <a:xfrm>
            <a:off x="4507992" y="5669280"/>
            <a:ext cx="3246120" cy="685800"/>
          </a:xfrm>
          <a:prstGeom prst="rect">
            <a:avLst/>
          </a:prstGeom>
          <a:noFill/>
          <a:ln/>
        </p:spPr>
        <p:txBody>
          <a:bodyPr wrap="square" lIns="0" tIns="0" rIns="0" bIns="0" rtlCol="0" anchor="ctr"/>
          <a:lstStyle/>
          <a:p>
            <a:pPr indent="0" marL="0">
              <a:buNone/>
            </a:pPr>
            <a:r>
              <a:rPr lang="en-US" sz="1000" dirty="0">
                <a:solidFill>
                  <a:srgbClr val="232838"/>
                </a:solidFill>
                <a:latin typeface="Calibri" pitchFamily="34" charset="0"/>
                <a:ea typeface="Calibri" pitchFamily="34" charset="-122"/>
                <a:cs typeface="Calibri" pitchFamily="34" charset="-120"/>
              </a:rPr>
              <a:t>kb init --domain customer scaffolds the repo; the domain team fills one file and runs bootstrap. No platform project.</a:t>
            </a:r>
            <a:endParaRPr lang="en-US" sz="1000" dirty="0"/>
          </a:p>
        </p:txBody>
      </p:sp>
      <p:sp>
        <p:nvSpPr>
          <p:cNvPr id="29" name="Shape 27"/>
          <p:cNvSpPr/>
          <p:nvPr/>
        </p:nvSpPr>
        <p:spPr>
          <a:xfrm>
            <a:off x="8147304" y="5120640"/>
            <a:ext cx="3584448" cy="1280160"/>
          </a:xfrm>
          <a:prstGeom prst="roundRect">
            <a:avLst>
              <a:gd name="adj" fmla="val 5714"/>
            </a:avLst>
          </a:prstGeom>
          <a:solidFill>
            <a:srgbClr val="EEF4FB"/>
          </a:solidFill>
          <a:ln w="12700">
            <a:solidFill>
              <a:srgbClr val="EEF4FB"/>
            </a:solidFill>
            <a:prstDash val="solid"/>
          </a:ln>
        </p:spPr>
      </p:sp>
      <p:sp>
        <p:nvSpPr>
          <p:cNvPr id="30" name="Text 28"/>
          <p:cNvSpPr/>
          <p:nvPr/>
        </p:nvSpPr>
        <p:spPr>
          <a:xfrm>
            <a:off x="8330184" y="5230368"/>
            <a:ext cx="3246120"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Central state = one small file</a:t>
            </a:r>
            <a:endParaRPr lang="en-US" sz="1200" dirty="0"/>
          </a:p>
        </p:txBody>
      </p:sp>
      <p:sp>
        <p:nvSpPr>
          <p:cNvPr id="31" name="Text 29"/>
          <p:cNvSpPr/>
          <p:nvPr/>
        </p:nvSpPr>
        <p:spPr>
          <a:xfrm>
            <a:off x="8330184" y="5669280"/>
            <a:ext cx="3246120" cy="685800"/>
          </a:xfrm>
          <a:prstGeom prst="rect">
            <a:avLst/>
          </a:prstGeom>
          <a:noFill/>
          <a:ln/>
        </p:spPr>
        <p:txBody>
          <a:bodyPr wrap="square" lIns="0" tIns="0" rIns="0" bIns="0" rtlCol="0" anchor="ctr"/>
          <a:lstStyle/>
          <a:p>
            <a:pPr indent="0" marL="0">
              <a:buNone/>
            </a:pPr>
            <a:r>
              <a:rPr lang="en-US" sz="1000" dirty="0">
                <a:solidFill>
                  <a:srgbClr val="232838"/>
                </a:solidFill>
                <a:latin typeface="Calibri" pitchFamily="34" charset="0"/>
                <a:ea typeface="Calibri" pitchFamily="34" charset="-122"/>
                <a:cs typeface="Calibri" pitchFamily="34" charset="-120"/>
              </a:rPr>
              <a:t>registry.yaml lists each domain, owner, version, and freshness promise. Cross-domain gateway: designed, built only when demand is logged.</a:t>
            </a:r>
            <a:endParaRPr lang="en-US" sz="1000" dirty="0"/>
          </a:p>
        </p:txBody>
      </p:sp>
      <p:sp>
        <p:nvSpPr>
          <p:cNvPr id="32" name="Text 3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5C6470"/>
                </a:solidFill>
                <a:latin typeface="Calibri" pitchFamily="34" charset="0"/>
                <a:ea typeface="Calibri" pitchFamily="34" charset="-122"/>
                <a:cs typeface="Calibri" pitchFamily="34" charset="-120"/>
              </a:rPr>
              <a:t>Commerce Knowledge Base — Architecture Briefing</a:t>
            </a:r>
            <a:endParaRPr lang="en-US" sz="900" dirty="0"/>
          </a:p>
        </p:txBody>
      </p:sp>
      <p:sp>
        <p:nvSpPr>
          <p:cNvPr id="33" name="Text 31"/>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5C64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274320"/>
          </a:xfrm>
          <a:prstGeom prst="rect">
            <a:avLst/>
          </a:prstGeom>
          <a:noFill/>
          <a:ln/>
        </p:spPr>
        <p:txBody>
          <a:bodyPr wrap="square" lIns="0" tIns="0" rIns="0" bIns="0" rtlCol="0" anchor="ctr"/>
          <a:lstStyle/>
          <a:p>
            <a:pPr indent="0" marL="0">
              <a:buNone/>
            </a:pPr>
            <a:r>
              <a:rPr lang="en-US" sz="1100" b="1" spc="200" kern="0" dirty="0">
                <a:solidFill>
                  <a:srgbClr val="8A5F00"/>
                </a:solidFill>
                <a:latin typeface="Calibri" pitchFamily="34" charset="0"/>
                <a:ea typeface="Calibri" pitchFamily="34" charset="-122"/>
                <a:cs typeface="Calibri" pitchFamily="34" charset="-120"/>
              </a:rPr>
              <a:t>COST &amp; DISCIPLINE</a:t>
            </a:r>
            <a:endParaRPr lang="en-US" sz="1100" dirty="0"/>
          </a:p>
        </p:txBody>
      </p:sp>
      <p:sp>
        <p:nvSpPr>
          <p:cNvPr id="3" name="Text 1"/>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Runs lean by design — and stays lean by rule</a:t>
            </a:r>
            <a:endParaRPr lang="en-US" sz="3000" dirty="0"/>
          </a:p>
        </p:txBody>
      </p:sp>
      <p:sp>
        <p:nvSpPr>
          <p:cNvPr id="4" name="Shape 2"/>
          <p:cNvSpPr/>
          <p:nvPr/>
        </p:nvSpPr>
        <p:spPr>
          <a:xfrm>
            <a:off x="502920" y="1554480"/>
            <a:ext cx="2615184" cy="2011680"/>
          </a:xfrm>
          <a:prstGeom prst="roundRect">
            <a:avLst>
              <a:gd name="adj" fmla="val 3636"/>
            </a:avLst>
          </a:prstGeom>
          <a:solidFill>
            <a:srgbClr val="EEF4FB"/>
          </a:solidFill>
          <a:ln w="12700">
            <a:solidFill>
              <a:srgbClr val="EEF4FB"/>
            </a:solidFill>
            <a:prstDash val="solid"/>
          </a:ln>
        </p:spPr>
      </p:sp>
      <p:sp>
        <p:nvSpPr>
          <p:cNvPr id="5" name="Text 3"/>
          <p:cNvSpPr/>
          <p:nvPr/>
        </p:nvSpPr>
        <p:spPr>
          <a:xfrm>
            <a:off x="667512" y="1700784"/>
            <a:ext cx="22860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$0</a:t>
            </a:r>
            <a:endParaRPr lang="en-US" sz="3000" dirty="0"/>
          </a:p>
        </p:txBody>
      </p:sp>
      <p:sp>
        <p:nvSpPr>
          <p:cNvPr id="6" name="Text 4"/>
          <p:cNvSpPr/>
          <p:nvPr/>
        </p:nvSpPr>
        <p:spPr>
          <a:xfrm>
            <a:off x="667512" y="2377440"/>
            <a:ext cx="2331720" cy="1097280"/>
          </a:xfrm>
          <a:prstGeom prst="rect">
            <a:avLst/>
          </a:prstGeom>
          <a:noFill/>
          <a:ln/>
        </p:spPr>
        <p:txBody>
          <a:bodyPr wrap="square" lIns="0" tIns="0" rIns="0" bIns="0" rtlCol="0" anchor="ctr"/>
          <a:lstStyle/>
          <a:p>
            <a:pPr indent="0" marL="0">
              <a:buNone/>
            </a:pPr>
            <a:r>
              <a:rPr lang="en-US" sz="1050" dirty="0">
                <a:solidFill>
                  <a:srgbClr val="232838"/>
                </a:solidFill>
                <a:latin typeface="Calibri" pitchFamily="34" charset="0"/>
                <a:ea typeface="Calibri" pitchFamily="34" charset="-122"/>
                <a:cs typeface="Calibri" pitchFamily="34" charset="-120"/>
              </a:rPr>
              <a:t>LLM cost in CI — validation, generation, audit, and the retrieval exam are all deterministic</a:t>
            </a:r>
            <a:endParaRPr lang="en-US" sz="1050" dirty="0"/>
          </a:p>
        </p:txBody>
      </p:sp>
      <p:sp>
        <p:nvSpPr>
          <p:cNvPr id="7" name="Shape 5"/>
          <p:cNvSpPr/>
          <p:nvPr/>
        </p:nvSpPr>
        <p:spPr>
          <a:xfrm>
            <a:off x="3355848" y="1554480"/>
            <a:ext cx="2615184" cy="2011680"/>
          </a:xfrm>
          <a:prstGeom prst="roundRect">
            <a:avLst>
              <a:gd name="adj" fmla="val 3636"/>
            </a:avLst>
          </a:prstGeom>
          <a:solidFill>
            <a:srgbClr val="EEF4FB"/>
          </a:solidFill>
          <a:ln w="12700">
            <a:solidFill>
              <a:srgbClr val="EEF4FB"/>
            </a:solidFill>
            <a:prstDash val="solid"/>
          </a:ln>
        </p:spPr>
      </p:sp>
      <p:sp>
        <p:nvSpPr>
          <p:cNvPr id="8" name="Text 6"/>
          <p:cNvSpPr/>
          <p:nvPr/>
        </p:nvSpPr>
        <p:spPr>
          <a:xfrm>
            <a:off x="3520440" y="1700784"/>
            <a:ext cx="22860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0</a:t>
            </a:r>
            <a:endParaRPr lang="en-US" sz="3000" dirty="0"/>
          </a:p>
        </p:txBody>
      </p:sp>
      <p:sp>
        <p:nvSpPr>
          <p:cNvPr id="9" name="Text 7"/>
          <p:cNvSpPr/>
          <p:nvPr/>
        </p:nvSpPr>
        <p:spPr>
          <a:xfrm>
            <a:off x="3520440" y="2377440"/>
            <a:ext cx="2331720" cy="1097280"/>
          </a:xfrm>
          <a:prstGeom prst="rect">
            <a:avLst/>
          </a:prstGeom>
          <a:noFill/>
          <a:ln/>
        </p:spPr>
        <p:txBody>
          <a:bodyPr wrap="square" lIns="0" tIns="0" rIns="0" bIns="0" rtlCol="0" anchor="ctr"/>
          <a:lstStyle/>
          <a:p>
            <a:pPr indent="0" marL="0">
              <a:buNone/>
            </a:pPr>
            <a:r>
              <a:rPr lang="en-US" sz="1050" dirty="0">
                <a:solidFill>
                  <a:srgbClr val="232838"/>
                </a:solidFill>
                <a:latin typeface="Calibri" pitchFamily="34" charset="0"/>
                <a:ea typeface="Calibri" pitchFamily="34" charset="-122"/>
                <a:cs typeface="Calibri" pitchFamily="34" charset="-120"/>
              </a:rPr>
              <a:t>standing infrastructure in Phase 1 — no containers, no databases, no GPU, no model downloads</a:t>
            </a:r>
            <a:endParaRPr lang="en-US" sz="1050" dirty="0"/>
          </a:p>
        </p:txBody>
      </p:sp>
      <p:sp>
        <p:nvSpPr>
          <p:cNvPr id="10" name="Shape 8"/>
          <p:cNvSpPr/>
          <p:nvPr/>
        </p:nvSpPr>
        <p:spPr>
          <a:xfrm>
            <a:off x="6208776" y="1554480"/>
            <a:ext cx="2615184" cy="2011680"/>
          </a:xfrm>
          <a:prstGeom prst="roundRect">
            <a:avLst>
              <a:gd name="adj" fmla="val 3636"/>
            </a:avLst>
          </a:prstGeom>
          <a:solidFill>
            <a:srgbClr val="EEF4FB"/>
          </a:solidFill>
          <a:ln w="12700">
            <a:solidFill>
              <a:srgbClr val="EEF4FB"/>
            </a:solidFill>
            <a:prstDash val="solid"/>
          </a:ln>
        </p:spPr>
      </p:sp>
      <p:sp>
        <p:nvSpPr>
          <p:cNvPr id="11" name="Text 9"/>
          <p:cNvSpPr/>
          <p:nvPr/>
        </p:nvSpPr>
        <p:spPr>
          <a:xfrm>
            <a:off x="6373368" y="1700784"/>
            <a:ext cx="2286000" cy="64008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~$/change</a:t>
            </a:r>
            <a:endParaRPr lang="en-US" sz="2200" dirty="0"/>
          </a:p>
        </p:txBody>
      </p:sp>
      <p:sp>
        <p:nvSpPr>
          <p:cNvPr id="12" name="Text 10"/>
          <p:cNvSpPr/>
          <p:nvPr/>
        </p:nvSpPr>
        <p:spPr>
          <a:xfrm>
            <a:off x="6373368" y="2377440"/>
            <a:ext cx="2331720" cy="1097280"/>
          </a:xfrm>
          <a:prstGeom prst="rect">
            <a:avLst/>
          </a:prstGeom>
          <a:noFill/>
          <a:ln/>
        </p:spPr>
        <p:txBody>
          <a:bodyPr wrap="square" lIns="0" tIns="0" rIns="0" bIns="0" rtlCol="0" anchor="ctr"/>
          <a:lstStyle/>
          <a:p>
            <a:pPr indent="0" marL="0">
              <a:buNone/>
            </a:pPr>
            <a:r>
              <a:rPr lang="en-US" sz="1050" dirty="0">
                <a:solidFill>
                  <a:srgbClr val="232838"/>
                </a:solidFill>
                <a:latin typeface="Calibri" pitchFamily="34" charset="0"/>
                <a:ea typeface="Calibri" pitchFamily="34" charset="-122"/>
                <a:cs typeface="Calibri" pitchFamily="34" charset="-120"/>
              </a:rPr>
              <a:t>LLM spend confined to re-ingesting services that actually changed — cost scales with change, not fleet size</a:t>
            </a:r>
            <a:endParaRPr lang="en-US" sz="1050" dirty="0"/>
          </a:p>
        </p:txBody>
      </p:sp>
      <p:sp>
        <p:nvSpPr>
          <p:cNvPr id="13" name="Shape 11"/>
          <p:cNvSpPr/>
          <p:nvPr/>
        </p:nvSpPr>
        <p:spPr>
          <a:xfrm>
            <a:off x="9061704" y="1554480"/>
            <a:ext cx="2615184" cy="2011680"/>
          </a:xfrm>
          <a:prstGeom prst="roundRect">
            <a:avLst>
              <a:gd name="adj" fmla="val 3636"/>
            </a:avLst>
          </a:prstGeom>
          <a:solidFill>
            <a:srgbClr val="EEF4FB"/>
          </a:solidFill>
          <a:ln w="12700">
            <a:solidFill>
              <a:srgbClr val="EEF4FB"/>
            </a:solidFill>
            <a:prstDash val="solid"/>
          </a:ln>
        </p:spPr>
      </p:sp>
      <p:sp>
        <p:nvSpPr>
          <p:cNvPr id="14" name="Text 12"/>
          <p:cNvSpPr/>
          <p:nvPr/>
        </p:nvSpPr>
        <p:spPr>
          <a:xfrm>
            <a:off x="9226296" y="1700784"/>
            <a:ext cx="22860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~$2</a:t>
            </a:r>
            <a:endParaRPr lang="en-US" sz="3000" dirty="0"/>
          </a:p>
        </p:txBody>
      </p:sp>
      <p:sp>
        <p:nvSpPr>
          <p:cNvPr id="15" name="Text 13"/>
          <p:cNvSpPr/>
          <p:nvPr/>
        </p:nvSpPr>
        <p:spPr>
          <a:xfrm>
            <a:off x="9226296" y="2377440"/>
            <a:ext cx="2331720" cy="1097280"/>
          </a:xfrm>
          <a:prstGeom prst="rect">
            <a:avLst/>
          </a:prstGeom>
          <a:noFill/>
          <a:ln/>
        </p:spPr>
        <p:txBody>
          <a:bodyPr wrap="square" lIns="0" tIns="0" rIns="0" bIns="0" rtlCol="0" anchor="ctr"/>
          <a:lstStyle/>
          <a:p>
            <a:pPr indent="0" marL="0">
              <a:buNone/>
            </a:pPr>
            <a:r>
              <a:rPr lang="en-US" sz="1050" dirty="0">
                <a:solidFill>
                  <a:srgbClr val="232838"/>
                </a:solidFill>
                <a:latin typeface="Calibri" pitchFamily="34" charset="0"/>
                <a:ea typeface="Calibri" pitchFamily="34" charset="-122"/>
                <a:cs typeface="Calibri" pitchFamily="34" charset="-120"/>
              </a:rPr>
              <a:t>per full evaluation cycle: exam generation ≈ $1, judging a full answer run under $1</a:t>
            </a:r>
            <a:endParaRPr lang="en-US" sz="1050" dirty="0"/>
          </a:p>
        </p:txBody>
      </p:sp>
      <p:sp>
        <p:nvSpPr>
          <p:cNvPr id="16" name="Shape 14"/>
          <p:cNvSpPr/>
          <p:nvPr/>
        </p:nvSpPr>
        <p:spPr>
          <a:xfrm>
            <a:off x="502920" y="3840480"/>
            <a:ext cx="11173968" cy="1234440"/>
          </a:xfrm>
          <a:prstGeom prst="roundRect">
            <a:avLst>
              <a:gd name="adj" fmla="val 5926"/>
            </a:avLst>
          </a:prstGeom>
          <a:solidFill>
            <a:srgbClr val="1E2761"/>
          </a:solidFill>
          <a:ln w="12700">
            <a:solidFill>
              <a:srgbClr val="1E2761"/>
            </a:solidFill>
            <a:prstDash val="solid"/>
          </a:ln>
        </p:spPr>
      </p:sp>
      <p:sp>
        <p:nvSpPr>
          <p:cNvPr id="17" name="Text 15"/>
          <p:cNvSpPr/>
          <p:nvPr/>
        </p:nvSpPr>
        <p:spPr>
          <a:xfrm>
            <a:off x="868680" y="4005072"/>
            <a:ext cx="10424160" cy="640080"/>
          </a:xfrm>
          <a:prstGeom prst="rect">
            <a:avLst/>
          </a:prstGeom>
          <a:noFill/>
          <a:ln/>
        </p:spPr>
        <p:txBody>
          <a:bodyPr wrap="square" lIns="0" tIns="0" rIns="0" bIns="0" rtlCol="0" anchor="ctr"/>
          <a:lstStyle/>
          <a:p>
            <a:pPr indent="0" marL="0">
              <a:buNone/>
            </a:pPr>
            <a:r>
              <a:rPr lang="en-US" sz="1650" b="1" i="1" dirty="0">
                <a:solidFill>
                  <a:srgbClr val="FFFFFF"/>
                </a:solidFill>
                <a:latin typeface="Cambria" pitchFamily="34" charset="0"/>
                <a:ea typeface="Cambria" pitchFamily="34" charset="-122"/>
                <a:cs typeface="Cambria" pitchFamily="34" charset="-120"/>
              </a:rPr>
              <a:t>“Every heavy component we run has a number that justifies it, and every one we don’t run has a number that would bring it back.”</a:t>
            </a:r>
            <a:endParaRPr lang="en-US" sz="1650" dirty="0"/>
          </a:p>
        </p:txBody>
      </p:sp>
      <p:sp>
        <p:nvSpPr>
          <p:cNvPr id="18" name="Text 16"/>
          <p:cNvSpPr/>
          <p:nvPr/>
        </p:nvSpPr>
        <p:spPr>
          <a:xfrm>
            <a:off x="868680" y="4663440"/>
            <a:ext cx="10424160" cy="32004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Deferred ≠ rejected: each deferred component is fully designed, with a written numeric adoption trigger, reviewed quarterly.</a:t>
            </a:r>
            <a:endParaRPr lang="en-US" sz="1150" dirty="0"/>
          </a:p>
        </p:txBody>
      </p:sp>
      <p:sp>
        <p:nvSpPr>
          <p:cNvPr id="19" name="Shape 17"/>
          <p:cNvSpPr/>
          <p:nvPr/>
        </p:nvSpPr>
        <p:spPr>
          <a:xfrm>
            <a:off x="502920" y="5303520"/>
            <a:ext cx="2615184" cy="914400"/>
          </a:xfrm>
          <a:prstGeom prst="roundRect">
            <a:avLst>
              <a:gd name="adj" fmla="val 8000"/>
            </a:avLst>
          </a:prstGeom>
          <a:solidFill>
            <a:srgbClr val="E4F2E9"/>
          </a:solidFill>
          <a:ln w="12700">
            <a:solidFill>
              <a:srgbClr val="E4F2E9"/>
            </a:solidFill>
            <a:prstDash val="solid"/>
          </a:ln>
        </p:spPr>
      </p:sp>
      <p:sp>
        <p:nvSpPr>
          <p:cNvPr id="20" name="Text 18"/>
          <p:cNvSpPr/>
          <p:nvPr/>
        </p:nvSpPr>
        <p:spPr>
          <a:xfrm>
            <a:off x="649224" y="5394960"/>
            <a:ext cx="2377440" cy="292608"/>
          </a:xfrm>
          <a:prstGeom prst="rect">
            <a:avLst/>
          </a:prstGeom>
          <a:noFill/>
          <a:ln/>
        </p:spPr>
        <p:txBody>
          <a:bodyPr wrap="square" lIns="0" tIns="0" rIns="0" bIns="0" rtlCol="0" anchor="ctr"/>
          <a:lstStyle/>
          <a:p>
            <a:pPr indent="0" marL="0">
              <a:buNone/>
            </a:pPr>
            <a:r>
              <a:rPr lang="en-US" sz="1100" b="1" dirty="0">
                <a:solidFill>
                  <a:srgbClr val="2C7A4B"/>
                </a:solidFill>
                <a:latin typeface="Calibri" pitchFamily="34" charset="0"/>
                <a:ea typeface="Calibri" pitchFamily="34" charset="-122"/>
                <a:cs typeface="Calibri" pitchFamily="34" charset="-120"/>
              </a:rPr>
              <a:t>Vector database (pgvector)</a:t>
            </a:r>
            <a:endParaRPr lang="en-US" sz="1100" dirty="0"/>
          </a:p>
        </p:txBody>
      </p:sp>
      <p:sp>
        <p:nvSpPr>
          <p:cNvPr id="21" name="Text 19"/>
          <p:cNvSpPr/>
          <p:nvPr/>
        </p:nvSpPr>
        <p:spPr>
          <a:xfrm>
            <a:off x="649224" y="5687568"/>
            <a:ext cx="2377440" cy="475488"/>
          </a:xfrm>
          <a:prstGeom prst="rect">
            <a:avLst/>
          </a:prstGeom>
          <a:noFill/>
          <a:ln/>
        </p:spPr>
        <p:txBody>
          <a:bodyPr wrap="square" lIns="0" tIns="0" rIns="0" bIns="0" rtlCol="0" anchor="ctr"/>
          <a:lstStyle/>
          <a:p>
            <a:pPr indent="0" marL="0">
              <a:buNone/>
            </a:pPr>
            <a:r>
              <a:rPr lang="en-US" sz="1000" dirty="0">
                <a:solidFill>
                  <a:srgbClr val="232838"/>
                </a:solidFill>
                <a:latin typeface="Calibri" pitchFamily="34" charset="0"/>
                <a:ea typeface="Calibri" pitchFamily="34" charset="-122"/>
                <a:cs typeface="Calibri" pitchFamily="34" charset="-120"/>
              </a:rPr>
              <a:t>adopts at ~50K chunks or slow startup</a:t>
            </a:r>
            <a:endParaRPr lang="en-US" sz="1000" dirty="0"/>
          </a:p>
        </p:txBody>
      </p:sp>
      <p:sp>
        <p:nvSpPr>
          <p:cNvPr id="22" name="Shape 20"/>
          <p:cNvSpPr/>
          <p:nvPr/>
        </p:nvSpPr>
        <p:spPr>
          <a:xfrm>
            <a:off x="3355848" y="5303520"/>
            <a:ext cx="2615184" cy="914400"/>
          </a:xfrm>
          <a:prstGeom prst="roundRect">
            <a:avLst>
              <a:gd name="adj" fmla="val 8000"/>
            </a:avLst>
          </a:prstGeom>
          <a:solidFill>
            <a:srgbClr val="E4F2E9"/>
          </a:solidFill>
          <a:ln w="12700">
            <a:solidFill>
              <a:srgbClr val="E4F2E9"/>
            </a:solidFill>
            <a:prstDash val="solid"/>
          </a:ln>
        </p:spPr>
      </p:sp>
      <p:sp>
        <p:nvSpPr>
          <p:cNvPr id="23" name="Text 21"/>
          <p:cNvSpPr/>
          <p:nvPr/>
        </p:nvSpPr>
        <p:spPr>
          <a:xfrm>
            <a:off x="3502152" y="5394960"/>
            <a:ext cx="2377440" cy="292608"/>
          </a:xfrm>
          <a:prstGeom prst="rect">
            <a:avLst/>
          </a:prstGeom>
          <a:noFill/>
          <a:ln/>
        </p:spPr>
        <p:txBody>
          <a:bodyPr wrap="square" lIns="0" tIns="0" rIns="0" bIns="0" rtlCol="0" anchor="ctr"/>
          <a:lstStyle/>
          <a:p>
            <a:pPr indent="0" marL="0">
              <a:buNone/>
            </a:pPr>
            <a:r>
              <a:rPr lang="en-US" sz="1100" b="1" dirty="0">
                <a:solidFill>
                  <a:srgbClr val="2C7A4B"/>
                </a:solidFill>
                <a:latin typeface="Calibri" pitchFamily="34" charset="0"/>
                <a:ea typeface="Calibri" pitchFamily="34" charset="-122"/>
                <a:cs typeface="Calibri" pitchFamily="34" charset="-120"/>
              </a:rPr>
              <a:t>Cross-domain gateway</a:t>
            </a:r>
            <a:endParaRPr lang="en-US" sz="1100" dirty="0"/>
          </a:p>
        </p:txBody>
      </p:sp>
      <p:sp>
        <p:nvSpPr>
          <p:cNvPr id="24" name="Text 22"/>
          <p:cNvSpPr/>
          <p:nvPr/>
        </p:nvSpPr>
        <p:spPr>
          <a:xfrm>
            <a:off x="3502152" y="5687568"/>
            <a:ext cx="2377440" cy="475488"/>
          </a:xfrm>
          <a:prstGeom prst="rect">
            <a:avLst/>
          </a:prstGeom>
          <a:noFill/>
          <a:ln/>
        </p:spPr>
        <p:txBody>
          <a:bodyPr wrap="square" lIns="0" tIns="0" rIns="0" bIns="0" rtlCol="0" anchor="ctr"/>
          <a:lstStyle/>
          <a:p>
            <a:pPr indent="0" marL="0">
              <a:buNone/>
            </a:pPr>
            <a:r>
              <a:rPr lang="en-US" sz="1000" dirty="0">
                <a:solidFill>
                  <a:srgbClr val="232838"/>
                </a:solidFill>
                <a:latin typeface="Calibri" pitchFamily="34" charset="0"/>
                <a:ea typeface="Calibri" pitchFamily="34" charset="-122"/>
                <a:cs typeface="Calibri" pitchFamily="34" charset="-120"/>
              </a:rPr>
              <a:t>adopts at 2+ domains + logged demand</a:t>
            </a:r>
            <a:endParaRPr lang="en-US" sz="1000" dirty="0"/>
          </a:p>
        </p:txBody>
      </p:sp>
      <p:sp>
        <p:nvSpPr>
          <p:cNvPr id="25" name="Shape 23"/>
          <p:cNvSpPr/>
          <p:nvPr/>
        </p:nvSpPr>
        <p:spPr>
          <a:xfrm>
            <a:off x="6208776" y="5303520"/>
            <a:ext cx="2615184" cy="914400"/>
          </a:xfrm>
          <a:prstGeom prst="roundRect">
            <a:avLst>
              <a:gd name="adj" fmla="val 8000"/>
            </a:avLst>
          </a:prstGeom>
          <a:solidFill>
            <a:srgbClr val="E4F2E9"/>
          </a:solidFill>
          <a:ln w="12700">
            <a:solidFill>
              <a:srgbClr val="E4F2E9"/>
            </a:solidFill>
            <a:prstDash val="solid"/>
          </a:ln>
        </p:spPr>
      </p:sp>
      <p:sp>
        <p:nvSpPr>
          <p:cNvPr id="26" name="Text 24"/>
          <p:cNvSpPr/>
          <p:nvPr/>
        </p:nvSpPr>
        <p:spPr>
          <a:xfrm>
            <a:off x="6355080" y="5394960"/>
            <a:ext cx="2377440" cy="292608"/>
          </a:xfrm>
          <a:prstGeom prst="rect">
            <a:avLst/>
          </a:prstGeom>
          <a:noFill/>
          <a:ln/>
        </p:spPr>
        <p:txBody>
          <a:bodyPr wrap="square" lIns="0" tIns="0" rIns="0" bIns="0" rtlCol="0" anchor="ctr"/>
          <a:lstStyle/>
          <a:p>
            <a:pPr indent="0" marL="0">
              <a:buNone/>
            </a:pPr>
            <a:r>
              <a:rPr lang="en-US" sz="1100" b="1" dirty="0">
                <a:solidFill>
                  <a:srgbClr val="2C7A4B"/>
                </a:solidFill>
                <a:latin typeface="Calibri" pitchFamily="34" charset="0"/>
                <a:ea typeface="Calibri" pitchFamily="34" charset="-122"/>
                <a:cs typeface="Calibri" pitchFamily="34" charset="-120"/>
              </a:rPr>
              <a:t>Orchestrator (Kestra)</a:t>
            </a:r>
            <a:endParaRPr lang="en-US" sz="1100" dirty="0"/>
          </a:p>
        </p:txBody>
      </p:sp>
      <p:sp>
        <p:nvSpPr>
          <p:cNvPr id="27" name="Text 25"/>
          <p:cNvSpPr/>
          <p:nvPr/>
        </p:nvSpPr>
        <p:spPr>
          <a:xfrm>
            <a:off x="6355080" y="5687568"/>
            <a:ext cx="2377440" cy="475488"/>
          </a:xfrm>
          <a:prstGeom prst="rect">
            <a:avLst/>
          </a:prstGeom>
          <a:noFill/>
          <a:ln/>
        </p:spPr>
        <p:txBody>
          <a:bodyPr wrap="square" lIns="0" tIns="0" rIns="0" bIns="0" rtlCol="0" anchor="ctr"/>
          <a:lstStyle/>
          <a:p>
            <a:pPr indent="0" marL="0">
              <a:buNone/>
            </a:pPr>
            <a:r>
              <a:rPr lang="en-US" sz="1000" dirty="0">
                <a:solidFill>
                  <a:srgbClr val="232838"/>
                </a:solidFill>
                <a:latin typeface="Calibri" pitchFamily="34" charset="0"/>
                <a:ea typeface="Calibri" pitchFamily="34" charset="-122"/>
                <a:cs typeface="Calibri" pitchFamily="34" charset="-120"/>
              </a:rPr>
              <a:t>adopts at &gt; 3 domains</a:t>
            </a:r>
            <a:endParaRPr lang="en-US" sz="1000" dirty="0"/>
          </a:p>
        </p:txBody>
      </p:sp>
      <p:sp>
        <p:nvSpPr>
          <p:cNvPr id="28" name="Shape 26"/>
          <p:cNvSpPr/>
          <p:nvPr/>
        </p:nvSpPr>
        <p:spPr>
          <a:xfrm>
            <a:off x="9061704" y="5303520"/>
            <a:ext cx="2615184" cy="914400"/>
          </a:xfrm>
          <a:prstGeom prst="roundRect">
            <a:avLst>
              <a:gd name="adj" fmla="val 8000"/>
            </a:avLst>
          </a:prstGeom>
          <a:solidFill>
            <a:srgbClr val="E4F2E9"/>
          </a:solidFill>
          <a:ln w="12700">
            <a:solidFill>
              <a:srgbClr val="E4F2E9"/>
            </a:solidFill>
            <a:prstDash val="solid"/>
          </a:ln>
        </p:spPr>
      </p:sp>
      <p:sp>
        <p:nvSpPr>
          <p:cNvPr id="29" name="Text 27"/>
          <p:cNvSpPr/>
          <p:nvPr/>
        </p:nvSpPr>
        <p:spPr>
          <a:xfrm>
            <a:off x="9208008" y="5394960"/>
            <a:ext cx="2377440" cy="292608"/>
          </a:xfrm>
          <a:prstGeom prst="rect">
            <a:avLst/>
          </a:prstGeom>
          <a:noFill/>
          <a:ln/>
        </p:spPr>
        <p:txBody>
          <a:bodyPr wrap="square" lIns="0" tIns="0" rIns="0" bIns="0" rtlCol="0" anchor="ctr"/>
          <a:lstStyle/>
          <a:p>
            <a:pPr indent="0" marL="0">
              <a:buNone/>
            </a:pPr>
            <a:r>
              <a:rPr lang="en-US" sz="1100" b="1" dirty="0">
                <a:solidFill>
                  <a:srgbClr val="2C7A4B"/>
                </a:solidFill>
                <a:latin typeface="Calibri" pitchFamily="34" charset="0"/>
                <a:ea typeface="Calibri" pitchFamily="34" charset="-122"/>
                <a:cs typeface="Calibri" pitchFamily="34" charset="-120"/>
              </a:rPr>
              <a:t>Dashboards (Grafana)</a:t>
            </a:r>
            <a:endParaRPr lang="en-US" sz="1100" dirty="0"/>
          </a:p>
        </p:txBody>
      </p:sp>
      <p:sp>
        <p:nvSpPr>
          <p:cNvPr id="30" name="Text 28"/>
          <p:cNvSpPr/>
          <p:nvPr/>
        </p:nvSpPr>
        <p:spPr>
          <a:xfrm>
            <a:off x="9208008" y="5687568"/>
            <a:ext cx="2377440" cy="475488"/>
          </a:xfrm>
          <a:prstGeom prst="rect">
            <a:avLst/>
          </a:prstGeom>
          <a:noFill/>
          <a:ln/>
        </p:spPr>
        <p:txBody>
          <a:bodyPr wrap="square" lIns="0" tIns="0" rIns="0" bIns="0" rtlCol="0" anchor="ctr"/>
          <a:lstStyle/>
          <a:p>
            <a:pPr indent="0" marL="0">
              <a:buNone/>
            </a:pPr>
            <a:r>
              <a:rPr lang="en-US" sz="1000" dirty="0">
                <a:solidFill>
                  <a:srgbClr val="232838"/>
                </a:solidFill>
                <a:latin typeface="Calibri" pitchFamily="34" charset="0"/>
                <a:ea typeface="Calibri" pitchFamily="34" charset="-122"/>
                <a:cs typeface="Calibri" pitchFamily="34" charset="-120"/>
              </a:rPr>
              <a:t>adopt when real traffic starts</a:t>
            </a:r>
            <a:endParaRPr lang="en-US" sz="1000" dirty="0"/>
          </a:p>
        </p:txBody>
      </p:sp>
      <p:sp>
        <p:nvSpPr>
          <p:cNvPr id="31" name="Text 29"/>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5C6470"/>
                </a:solidFill>
                <a:latin typeface="Calibri" pitchFamily="34" charset="0"/>
                <a:ea typeface="Calibri" pitchFamily="34" charset="-122"/>
                <a:cs typeface="Calibri" pitchFamily="34" charset="-120"/>
              </a:rPr>
              <a:t>Commerce Knowledge Base — Architecture Briefing</a:t>
            </a:r>
            <a:endParaRPr lang="en-US" sz="900" dirty="0"/>
          </a:p>
        </p:txBody>
      </p:sp>
      <p:sp>
        <p:nvSpPr>
          <p:cNvPr id="32" name="Text 30"/>
          <p:cNvSpPr/>
          <p:nvPr/>
        </p:nvSpPr>
        <p:spPr>
          <a:xfrm>
            <a:off x="11430000" y="6473952"/>
            <a:ext cx="365760" cy="274320"/>
          </a:xfrm>
          <a:prstGeom prst="rect">
            <a:avLst/>
          </a:prstGeom>
          <a:noFill/>
          <a:ln/>
        </p:spPr>
        <p:txBody>
          <a:bodyPr wrap="square" lIns="0" tIns="0" rIns="0" bIns="0" rtlCol="0" anchor="ctr"/>
          <a:lstStyle/>
          <a:p>
            <a:pPr algn="r" indent="0" marL="0">
              <a:buNone/>
            </a:pPr>
            <a:r>
              <a:rPr lang="en-US" sz="900" dirty="0">
                <a:solidFill>
                  <a:srgbClr val="5C64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sp>
      <p:sp>
        <p:nvSpPr>
          <p:cNvPr id="3" name="Shape 1"/>
          <p:cNvSpPr/>
          <p:nvPr/>
        </p:nvSpPr>
        <p:spPr>
          <a:xfrm>
            <a:off x="-1463040" y="-1645920"/>
            <a:ext cx="4023360" cy="4023360"/>
          </a:xfrm>
          <a:prstGeom prst="ellipse">
            <a:avLst/>
          </a:prstGeom>
          <a:solidFill>
            <a:srgbClr val="2A3575"/>
          </a:solidFill>
          <a:ln/>
        </p:spPr>
      </p:sp>
      <p:sp>
        <p:nvSpPr>
          <p:cNvPr id="4" name="Shape 2"/>
          <p:cNvSpPr/>
          <p:nvPr/>
        </p:nvSpPr>
        <p:spPr>
          <a:xfrm>
            <a:off x="10241280" y="4937760"/>
            <a:ext cx="3291840" cy="3291840"/>
          </a:xfrm>
          <a:prstGeom prst="ellipse">
            <a:avLst/>
          </a:prstGeom>
          <a:solidFill>
            <a:srgbClr val="2A3575"/>
          </a:solidFill>
          <a:ln/>
        </p:spPr>
      </p:sp>
      <p:sp>
        <p:nvSpPr>
          <p:cNvPr id="5" name="Text 3"/>
          <p:cNvSpPr/>
          <p:nvPr/>
        </p:nvSpPr>
        <p:spPr>
          <a:xfrm>
            <a:off x="822960" y="548640"/>
            <a:ext cx="10515600" cy="320040"/>
          </a:xfrm>
          <a:prstGeom prst="rect">
            <a:avLst/>
          </a:prstGeom>
          <a:noFill/>
          <a:ln/>
        </p:spPr>
        <p:txBody>
          <a:bodyPr wrap="square" lIns="0" tIns="0" rIns="0" bIns="0" rtlCol="0" anchor="ctr"/>
          <a:lstStyle/>
          <a:p>
            <a:pPr indent="0" marL="0">
              <a:buNone/>
            </a:pPr>
            <a:r>
              <a:rPr lang="en-US" sz="1200" b="1" spc="300" kern="0" dirty="0">
                <a:solidFill>
                  <a:srgbClr val="CADCFC"/>
                </a:solidFill>
                <a:latin typeface="Calibri" pitchFamily="34" charset="0"/>
                <a:ea typeface="Calibri" pitchFamily="34" charset="-122"/>
                <a:cs typeface="Calibri" pitchFamily="34" charset="-120"/>
              </a:rPr>
              <a:t>WHERE THIS GOES</a:t>
            </a:r>
            <a:endParaRPr lang="en-US" sz="1200" dirty="0"/>
          </a:p>
        </p:txBody>
      </p:sp>
      <p:sp>
        <p:nvSpPr>
          <p:cNvPr id="6" name="Text 4"/>
          <p:cNvSpPr/>
          <p:nvPr/>
        </p:nvSpPr>
        <p:spPr>
          <a:xfrm>
            <a:off x="822960" y="868680"/>
            <a:ext cx="1060704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Proven in Commerce. Packaged for every domain.</a:t>
            </a:r>
            <a:endParaRPr lang="en-US" sz="3000" dirty="0"/>
          </a:p>
        </p:txBody>
      </p:sp>
      <p:sp>
        <p:nvSpPr>
          <p:cNvPr id="7" name="Shape 5"/>
          <p:cNvSpPr/>
          <p:nvPr/>
        </p:nvSpPr>
        <p:spPr>
          <a:xfrm>
            <a:off x="822960" y="2011680"/>
            <a:ext cx="2514600" cy="2286000"/>
          </a:xfrm>
          <a:prstGeom prst="roundRect">
            <a:avLst>
              <a:gd name="adj" fmla="val 3200"/>
            </a:avLst>
          </a:prstGeom>
          <a:solidFill>
            <a:srgbClr val="2A3575"/>
          </a:solidFill>
          <a:ln w="12700">
            <a:solidFill>
              <a:srgbClr val="2A3575"/>
            </a:solidFill>
            <a:prstDash val="solid"/>
          </a:ln>
        </p:spPr>
      </p:sp>
      <p:sp>
        <p:nvSpPr>
          <p:cNvPr id="8" name="Text 6"/>
          <p:cNvSpPr/>
          <p:nvPr/>
        </p:nvSpPr>
        <p:spPr>
          <a:xfrm>
            <a:off x="987552" y="2176272"/>
            <a:ext cx="2194560" cy="274320"/>
          </a:xfrm>
          <a:prstGeom prst="rect">
            <a:avLst/>
          </a:prstGeom>
          <a:noFill/>
          <a:ln/>
        </p:spPr>
        <p:txBody>
          <a:bodyPr wrap="square" lIns="0" tIns="0" rIns="0" bIns="0" rtlCol="0" anchor="ctr"/>
          <a:lstStyle/>
          <a:p>
            <a:pPr indent="0" marL="0">
              <a:buNone/>
            </a:pPr>
            <a:r>
              <a:rPr lang="en-US" sz="1100" b="1" spc="200" kern="0" dirty="0">
                <a:solidFill>
                  <a:srgbClr val="F0A500"/>
                </a:solidFill>
                <a:latin typeface="Calibri" pitchFamily="34" charset="0"/>
                <a:ea typeface="Calibri" pitchFamily="34" charset="-122"/>
                <a:cs typeface="Calibri" pitchFamily="34" charset="-120"/>
              </a:rPr>
              <a:t>DONE</a:t>
            </a:r>
            <a:endParaRPr lang="en-US" sz="1100" dirty="0"/>
          </a:p>
        </p:txBody>
      </p:sp>
      <p:sp>
        <p:nvSpPr>
          <p:cNvPr id="9" name="Text 7"/>
          <p:cNvSpPr/>
          <p:nvPr/>
        </p:nvSpPr>
        <p:spPr>
          <a:xfrm>
            <a:off x="987552" y="2487168"/>
            <a:ext cx="2194560" cy="5486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Commerce KB live</a:t>
            </a:r>
            <a:endParaRPr lang="en-US" sz="1450" dirty="0"/>
          </a:p>
        </p:txBody>
      </p:sp>
      <p:sp>
        <p:nvSpPr>
          <p:cNvPr id="10" name="Text 8"/>
          <p:cNvSpPr/>
          <p:nvPr/>
        </p:nvSpPr>
        <p:spPr>
          <a:xfrm>
            <a:off x="987552" y="3063240"/>
            <a:ext cx="2194560" cy="114300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45 services, 830 APIs, hybrid search, 9 MCP tools, 6-job CI — all gates green</a:t>
            </a:r>
            <a:endParaRPr lang="en-US" sz="1050" dirty="0"/>
          </a:p>
        </p:txBody>
      </p:sp>
      <p:sp>
        <p:nvSpPr>
          <p:cNvPr id="11" name="Shape 9"/>
          <p:cNvSpPr/>
          <p:nvPr/>
        </p:nvSpPr>
        <p:spPr>
          <a:xfrm>
            <a:off x="3355848" y="2999232"/>
            <a:ext cx="201168" cy="274320"/>
          </a:xfrm>
          <a:prstGeom prst="rightArrow">
            <a:avLst/>
          </a:prstGeom>
          <a:solidFill>
            <a:srgbClr val="F0A500"/>
          </a:solidFill>
          <a:ln/>
        </p:spPr>
      </p:sp>
      <p:sp>
        <p:nvSpPr>
          <p:cNvPr id="12" name="Shape 10"/>
          <p:cNvSpPr/>
          <p:nvPr/>
        </p:nvSpPr>
        <p:spPr>
          <a:xfrm>
            <a:off x="3566160" y="2011680"/>
            <a:ext cx="2514600" cy="2286000"/>
          </a:xfrm>
          <a:prstGeom prst="roundRect">
            <a:avLst>
              <a:gd name="adj" fmla="val 3200"/>
            </a:avLst>
          </a:prstGeom>
          <a:solidFill>
            <a:srgbClr val="2A3575"/>
          </a:solidFill>
          <a:ln w="12700">
            <a:solidFill>
              <a:srgbClr val="2A3575"/>
            </a:solidFill>
            <a:prstDash val="solid"/>
          </a:ln>
        </p:spPr>
      </p:sp>
      <p:sp>
        <p:nvSpPr>
          <p:cNvPr id="13" name="Text 11"/>
          <p:cNvSpPr/>
          <p:nvPr/>
        </p:nvSpPr>
        <p:spPr>
          <a:xfrm>
            <a:off x="3730752" y="2176272"/>
            <a:ext cx="2194560" cy="274320"/>
          </a:xfrm>
          <a:prstGeom prst="rect">
            <a:avLst/>
          </a:prstGeom>
          <a:noFill/>
          <a:ln/>
        </p:spPr>
        <p:txBody>
          <a:bodyPr wrap="square" lIns="0" tIns="0" rIns="0" bIns="0" rtlCol="0" anchor="ctr"/>
          <a:lstStyle/>
          <a:p>
            <a:pPr indent="0" marL="0">
              <a:buNone/>
            </a:pPr>
            <a:r>
              <a:rPr lang="en-US" sz="1100" b="1" spc="200" kern="0" dirty="0">
                <a:solidFill>
                  <a:srgbClr val="CADCFC"/>
                </a:solidFill>
                <a:latin typeface="Calibri" pitchFamily="34" charset="0"/>
                <a:ea typeface="Calibri" pitchFamily="34" charset="-122"/>
                <a:cs typeface="Calibri" pitchFamily="34" charset="-120"/>
              </a:rPr>
              <a:t>NEXT</a:t>
            </a:r>
            <a:endParaRPr lang="en-US" sz="1100" dirty="0"/>
          </a:p>
        </p:txBody>
      </p:sp>
      <p:sp>
        <p:nvSpPr>
          <p:cNvPr id="14" name="Text 12"/>
          <p:cNvSpPr/>
          <p:nvPr/>
        </p:nvSpPr>
        <p:spPr>
          <a:xfrm>
            <a:off x="3730752" y="2487168"/>
            <a:ext cx="2194560" cy="5486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Extract the framework</a:t>
            </a:r>
            <a:endParaRPr lang="en-US" sz="1450" dirty="0"/>
          </a:p>
        </p:txBody>
      </p:sp>
      <p:sp>
        <p:nvSpPr>
          <p:cNvPr id="15" name="Text 13"/>
          <p:cNvSpPr/>
          <p:nvPr/>
        </p:nvSpPr>
        <p:spPr>
          <a:xfrm>
            <a:off x="3730752" y="3063240"/>
            <a:ext cx="2194560" cy="114300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kb-framework becomes a versioned internal package any domain can install</a:t>
            </a:r>
            <a:endParaRPr lang="en-US" sz="1050" dirty="0"/>
          </a:p>
        </p:txBody>
      </p:sp>
      <p:sp>
        <p:nvSpPr>
          <p:cNvPr id="16" name="Shape 14"/>
          <p:cNvSpPr/>
          <p:nvPr/>
        </p:nvSpPr>
        <p:spPr>
          <a:xfrm>
            <a:off x="6099048" y="2999232"/>
            <a:ext cx="201168" cy="274320"/>
          </a:xfrm>
          <a:prstGeom prst="rightArrow">
            <a:avLst/>
          </a:prstGeom>
          <a:solidFill>
            <a:srgbClr val="F0A500"/>
          </a:solidFill>
          <a:ln/>
        </p:spPr>
      </p:sp>
      <p:sp>
        <p:nvSpPr>
          <p:cNvPr id="17" name="Shape 15"/>
          <p:cNvSpPr/>
          <p:nvPr/>
        </p:nvSpPr>
        <p:spPr>
          <a:xfrm>
            <a:off x="6309360" y="2011680"/>
            <a:ext cx="2514600" cy="2286000"/>
          </a:xfrm>
          <a:prstGeom prst="roundRect">
            <a:avLst>
              <a:gd name="adj" fmla="val 3200"/>
            </a:avLst>
          </a:prstGeom>
          <a:solidFill>
            <a:srgbClr val="2A3575"/>
          </a:solidFill>
          <a:ln w="12700">
            <a:solidFill>
              <a:srgbClr val="2A3575"/>
            </a:solidFill>
            <a:prstDash val="solid"/>
          </a:ln>
        </p:spPr>
      </p:sp>
      <p:sp>
        <p:nvSpPr>
          <p:cNvPr id="18" name="Text 16"/>
          <p:cNvSpPr/>
          <p:nvPr/>
        </p:nvSpPr>
        <p:spPr>
          <a:xfrm>
            <a:off x="6473952" y="2176272"/>
            <a:ext cx="2194560" cy="274320"/>
          </a:xfrm>
          <a:prstGeom prst="rect">
            <a:avLst/>
          </a:prstGeom>
          <a:noFill/>
          <a:ln/>
        </p:spPr>
        <p:txBody>
          <a:bodyPr wrap="square" lIns="0" tIns="0" rIns="0" bIns="0" rtlCol="0" anchor="ctr"/>
          <a:lstStyle/>
          <a:p>
            <a:pPr indent="0" marL="0">
              <a:buNone/>
            </a:pPr>
            <a:r>
              <a:rPr lang="en-US" sz="1100" b="1" spc="200" kern="0" dirty="0">
                <a:solidFill>
                  <a:srgbClr val="CADCFC"/>
                </a:solidFill>
                <a:latin typeface="Calibri" pitchFamily="34" charset="0"/>
                <a:ea typeface="Calibri" pitchFamily="34" charset="-122"/>
                <a:cs typeface="Calibri" pitchFamily="34" charset="-120"/>
              </a:rPr>
              <a:t>THEN</a:t>
            </a:r>
            <a:endParaRPr lang="en-US" sz="1100" dirty="0"/>
          </a:p>
        </p:txBody>
      </p:sp>
      <p:sp>
        <p:nvSpPr>
          <p:cNvPr id="19" name="Text 17"/>
          <p:cNvSpPr/>
          <p:nvPr/>
        </p:nvSpPr>
        <p:spPr>
          <a:xfrm>
            <a:off x="6473952" y="2487168"/>
            <a:ext cx="2194560" cy="5486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Onboard 2nd domain</a:t>
            </a:r>
            <a:endParaRPr lang="en-US" sz="1450" dirty="0"/>
          </a:p>
        </p:txBody>
      </p:sp>
      <p:sp>
        <p:nvSpPr>
          <p:cNvPr id="20" name="Text 18"/>
          <p:cNvSpPr/>
          <p:nvPr/>
        </p:nvSpPr>
        <p:spPr>
          <a:xfrm>
            <a:off x="6473952" y="3063240"/>
            <a:ext cx="2194560" cy="114300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Customer KB via template instantiation — the real test: zero framework changes</a:t>
            </a:r>
            <a:endParaRPr lang="en-US" sz="1050" dirty="0"/>
          </a:p>
        </p:txBody>
      </p:sp>
      <p:sp>
        <p:nvSpPr>
          <p:cNvPr id="21" name="Shape 19"/>
          <p:cNvSpPr/>
          <p:nvPr/>
        </p:nvSpPr>
        <p:spPr>
          <a:xfrm>
            <a:off x="8842248" y="2999232"/>
            <a:ext cx="201168" cy="274320"/>
          </a:xfrm>
          <a:prstGeom prst="rightArrow">
            <a:avLst/>
          </a:prstGeom>
          <a:solidFill>
            <a:srgbClr val="F0A500"/>
          </a:solidFill>
          <a:ln/>
        </p:spPr>
      </p:sp>
      <p:sp>
        <p:nvSpPr>
          <p:cNvPr id="22" name="Shape 20"/>
          <p:cNvSpPr/>
          <p:nvPr/>
        </p:nvSpPr>
        <p:spPr>
          <a:xfrm>
            <a:off x="9052560" y="2011680"/>
            <a:ext cx="2514600" cy="2286000"/>
          </a:xfrm>
          <a:prstGeom prst="roundRect">
            <a:avLst>
              <a:gd name="adj" fmla="val 3200"/>
            </a:avLst>
          </a:prstGeom>
          <a:solidFill>
            <a:srgbClr val="2A3575"/>
          </a:solidFill>
          <a:ln w="12700">
            <a:solidFill>
              <a:srgbClr val="2A3575"/>
            </a:solidFill>
            <a:prstDash val="solid"/>
          </a:ln>
        </p:spPr>
      </p:sp>
      <p:sp>
        <p:nvSpPr>
          <p:cNvPr id="23" name="Text 21"/>
          <p:cNvSpPr/>
          <p:nvPr/>
        </p:nvSpPr>
        <p:spPr>
          <a:xfrm>
            <a:off x="9217152" y="2176272"/>
            <a:ext cx="2194560" cy="274320"/>
          </a:xfrm>
          <a:prstGeom prst="rect">
            <a:avLst/>
          </a:prstGeom>
          <a:noFill/>
          <a:ln/>
        </p:spPr>
        <p:txBody>
          <a:bodyPr wrap="square" lIns="0" tIns="0" rIns="0" bIns="0" rtlCol="0" anchor="ctr"/>
          <a:lstStyle/>
          <a:p>
            <a:pPr indent="0" marL="0">
              <a:buNone/>
            </a:pPr>
            <a:r>
              <a:rPr lang="en-US" sz="1100" b="1" spc="200" kern="0" dirty="0">
                <a:solidFill>
                  <a:srgbClr val="CADCFC"/>
                </a:solidFill>
                <a:latin typeface="Calibri" pitchFamily="34" charset="0"/>
                <a:ea typeface="Calibri" pitchFamily="34" charset="-122"/>
                <a:cs typeface="Calibri" pitchFamily="34" charset="-120"/>
              </a:rPr>
              <a:t>WITH TRAFFIC</a:t>
            </a:r>
            <a:endParaRPr lang="en-US" sz="1100" dirty="0"/>
          </a:p>
        </p:txBody>
      </p:sp>
      <p:sp>
        <p:nvSpPr>
          <p:cNvPr id="24" name="Text 22"/>
          <p:cNvSpPr/>
          <p:nvPr/>
        </p:nvSpPr>
        <p:spPr>
          <a:xfrm>
            <a:off x="9217152" y="2487168"/>
            <a:ext cx="2194560" cy="5486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Close the loop</a:t>
            </a:r>
            <a:endParaRPr lang="en-US" sz="1450" dirty="0"/>
          </a:p>
        </p:txBody>
      </p:sp>
      <p:sp>
        <p:nvSpPr>
          <p:cNvPr id="25" name="Text 23"/>
          <p:cNvSpPr/>
          <p:nvPr/>
        </p:nvSpPr>
        <p:spPr>
          <a:xfrm>
            <a:off x="9217152" y="3063240"/>
            <a:ext cx="2194560" cy="114300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Online answer judging + usage dashboards; cross-domain gateway when demand is logged</a:t>
            </a:r>
            <a:endParaRPr lang="en-US" sz="1050" dirty="0"/>
          </a:p>
        </p:txBody>
      </p:sp>
      <p:sp>
        <p:nvSpPr>
          <p:cNvPr id="26" name="Text 24"/>
          <p:cNvSpPr/>
          <p:nvPr/>
        </p:nvSpPr>
        <p:spPr>
          <a:xfrm>
            <a:off x="822960" y="4709160"/>
            <a:ext cx="10515600" cy="365760"/>
          </a:xfrm>
          <a:prstGeom prst="rect">
            <a:avLst/>
          </a:prstGeom>
          <a:noFill/>
          <a:ln/>
        </p:spPr>
        <p:txBody>
          <a:bodyPr wrap="square" lIns="0" tIns="0" rIns="0" bIns="0" rtlCol="0" anchor="ctr"/>
          <a:lstStyle/>
          <a:p>
            <a:pPr indent="0" marL="0">
              <a:buNone/>
            </a:pPr>
            <a:r>
              <a:rPr lang="en-US" sz="1800" b="1" dirty="0">
                <a:solidFill>
                  <a:srgbClr val="F0A500"/>
                </a:solidFill>
                <a:latin typeface="Cambria" pitchFamily="34" charset="0"/>
                <a:ea typeface="Cambria" pitchFamily="34" charset="-122"/>
                <a:cs typeface="Cambria" pitchFamily="34" charset="-120"/>
              </a:rPr>
              <a:t>The ask</a:t>
            </a:r>
            <a:endParaRPr lang="en-US" sz="1800" dirty="0"/>
          </a:p>
        </p:txBody>
      </p:sp>
      <p:sp>
        <p:nvSpPr>
          <p:cNvPr id="27" name="Text 25"/>
          <p:cNvSpPr/>
          <p:nvPr/>
        </p:nvSpPr>
        <p:spPr>
          <a:xfrm>
            <a:off x="822960" y="5120640"/>
            <a:ext cx="10607040" cy="822960"/>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Endorse the federation model (one repo per domain, shared framework package) as the standard for engineering knowledge, and nominate the second domain. </a:t>
            </a:r>
            <a:pPr indent="0" marL="0">
              <a:buNone/>
            </a:pPr>
            <a:r>
              <a:rPr lang="en-US" sz="1400" dirty="0">
                <a:solidFill>
                  <a:srgbClr val="CADCFC"/>
                </a:solidFill>
                <a:latin typeface="Calibri" pitchFamily="34" charset="0"/>
                <a:ea typeface="Calibri" pitchFamily="34" charset="-122"/>
                <a:cs typeface="Calibri" pitchFamily="34" charset="-120"/>
              </a:rPr>
              <a:t>No new infrastructure, no licenses, no headcount ask — the framework is built, measured, and waiting for its second tenant.</a:t>
            </a:r>
            <a:endParaRPr lang="en-US" sz="1400" dirty="0"/>
          </a:p>
        </p:txBody>
      </p:sp>
      <p:sp>
        <p:nvSpPr>
          <p:cNvPr id="28" name="Text 26"/>
          <p:cNvSpPr/>
          <p:nvPr/>
        </p:nvSpPr>
        <p:spPr>
          <a:xfrm>
            <a:off x="822960" y="6263640"/>
            <a:ext cx="10515600" cy="27432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Commerce Architecture Team · full documentation: the 11-chapter book in /documentation</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2026-08-03T01:01:05Z</dcterms:created>
  <dcterms:modified xsi:type="dcterms:W3CDTF">2026-08-03T01:01:05Z</dcterms:modified>
</cp:coreProperties>
</file>